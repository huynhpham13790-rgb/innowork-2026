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al787.jpg"/>
          <p:cNvPicPr>
            <a:picLocks noChangeAspect="1"/>
          </p:cNvPicPr>
          <p:nvPr/>
        </p:nvPicPr>
        <p:blipFill>
          <a:blip r:embed="rId2"/>
          <a:srcRect l="22309" r="22309"/>
          <a:stretch>
            <a:fillRect/>
          </a:stretch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46304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1" i="0">
                <a:solidFill>
                  <a:srgbClr val="B45309"/>
                </a:solidFill>
                <a:latin typeface="Segoe UI"/>
              </a:rPr>
              <a:t>AIoT InnoWorks 2026  ·  Semi-final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394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3600" b="1" i="0">
                <a:solidFill>
                  <a:srgbClr val="0F172A"/>
                </a:solidFill>
                <a:latin typeface="Segoe UI"/>
              </a:rPr>
              <a:t>Edge-AI Thermal Safety Monitor
for EV Battery Packs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39"/>
            <a:ext cx="164592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100" b="1" i="0">
                <a:solidFill>
                  <a:srgbClr val="0F172A"/>
                </a:solidFill>
                <a:latin typeface="Segoe UI"/>
              </a:rPr>
              <a:t>Team Hu Tieu  ·  ICTU – Thai Nguyen University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0" i="1">
                <a:solidFill>
                  <a:srgbClr val="B45309"/>
                </a:solidFill>
                <a:latin typeface="Segoe UI"/>
              </a:rPr>
              <a:t>We look for the failing cell before it becomes a fire.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Photo: lithium-ion pack destroyed by thermal runaway (JAL 787 APU battery) — NTSB, public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_vallejo.jpg"/>
          <p:cNvPicPr>
            <a:picLocks noChangeAspect="1"/>
          </p:cNvPicPr>
          <p:nvPr/>
        </p:nvPicPr>
        <p:blipFill>
          <a:blip r:embed="rId2"/>
          <a:srcRect l="11489" r="14042"/>
          <a:stretch>
            <a:fillRect/>
          </a:stretch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 i="0">
                <a:solidFill>
                  <a:srgbClr val="0F172A"/>
                </a:solidFill>
                <a:latin typeface="Segoe UI"/>
              </a:rPr>
              <a:t>A pack does not fail all at once.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 i="0">
                <a:solidFill>
                  <a:srgbClr val="B45309"/>
                </a:solidFill>
                <a:latin typeface="Segoe UI"/>
              </a:rPr>
              <a:t>One weak cell heats up first.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8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 i="0">
                <a:solidFill>
                  <a:srgbClr val="475569"/>
                </a:solidFill>
                <a:latin typeface="Segoe UI"/>
              </a:rPr>
              <a:t>Once thermal runaway starts, it feeds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486400" cy="8046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~31%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611880"/>
            <a:ext cx="3291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of EV fires start while the vehicle is parked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26280"/>
            <a:ext cx="5486400" cy="8046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~25%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526280"/>
            <a:ext cx="3291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happen in underground car parks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440680"/>
            <a:ext cx="5486400" cy="8046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4406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1.5–12M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440680"/>
            <a:ext cx="3291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VND to replace one e-motorbike pack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Photo: vehicle fire in a car park (not an EV) — Jim Heaphy, CC BY-SA 3.0  ·  Fire statistics: EV FireSafe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900" b="1" i="0">
                <a:solidFill>
                  <a:srgbClr val="0F172A"/>
                </a:solidFill>
                <a:latin typeface="Segoe UI"/>
              </a:rPr>
              <a:t>Every BMS already has a 60 °C cut-off. So why 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Because the dangerous signal appears long before any absolute limit.</a:t>
            </a:r>
          </a:p>
        </p:txBody>
      </p:sp>
      <p:pic>
        <p:nvPicPr>
          <p:cNvPr id="6" name="Picture 5" descr="fig_deviation.png"/>
          <p:cNvPicPr>
            <a:picLocks noChangeAspect="1"/>
          </p:cNvPicPr>
          <p:nvPr/>
        </p:nvPicPr>
        <p:blipFill>
          <a:blip r:embed="rId2"/>
          <a:srcRect l="1075" r="1075"/>
          <a:stretch>
            <a:fillRect/>
          </a:stretch>
        </p:blipFill>
        <p:spPr>
          <a:xfrm>
            <a:off x="685800" y="1965960"/>
            <a:ext cx="59436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49440" y="1965960"/>
            <a:ext cx="4572000" cy="1645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965960"/>
            <a:ext cx="40233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475569"/>
                </a:solidFill>
                <a:latin typeface="Segoe UI"/>
              </a:rPr>
              <a:t>FIXED THRESHOLD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300" b="1" i="0">
                <a:solidFill>
                  <a:srgbClr val="15803D"/>
                </a:solidFill>
                <a:latin typeface="Segoe UI"/>
              </a:rPr>
              <a:t>Verdict:  all normal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Nothing is near 60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794760"/>
            <a:ext cx="4572000" cy="164592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3794760"/>
            <a:ext cx="40233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B45309"/>
                </a:solidFill>
                <a:latin typeface="Segoe UI"/>
              </a:rPr>
              <a:t>OUR EDGE AI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300" b="1" i="0">
                <a:solidFill>
                  <a:srgbClr val="B91C1C"/>
                </a:solidFill>
                <a:latin typeface="Segoe UI"/>
              </a:rPr>
              <a:t>Verdict:  abnormal cell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Cell #3 is +4 °C above the rest, under the same 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57607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The model reads relations between cells — not absolute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lls.jpg"/>
          <p:cNvPicPr>
            <a:picLocks noChangeAspect="1"/>
          </p:cNvPicPr>
          <p:nvPr/>
        </p:nvPicPr>
        <p:blipFill>
          <a:blip r:embed="rId2"/>
          <a:srcRect l="22965" r="22965"/>
          <a:stretch>
            <a:fillRect/>
          </a:stretch>
        </p:blipFill>
        <p:spPr>
          <a:xfrm>
            <a:off x="8686800" y="1737360"/>
            <a:ext cx="283464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 i="0">
                <a:solidFill>
                  <a:srgbClr val="B45309"/>
                </a:solidFill>
                <a:latin typeface="Segoe UI"/>
              </a:rPr>
              <a:t>A low-cost module that watches every cell and thinks on the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768096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43200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1" i="0">
                <a:solidFill>
                  <a:srgbClr val="0F172A"/>
                </a:solidFill>
                <a:latin typeface="Segoe U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43200"/>
            <a:ext cx="4846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An autoencoder on the ESP32-S3 flags the odd cell every second. No cloud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49040"/>
            <a:ext cx="768096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457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40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1" i="0">
                <a:solidFill>
                  <a:srgbClr val="0F172A"/>
                </a:solidFill>
                <a:latin typeface="Segoe UI"/>
              </a:rP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49040"/>
            <a:ext cx="4846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A cloud model reads each charge curve and reports battery health and remaining life.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768096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457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54880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1" i="0">
                <a:solidFill>
                  <a:srgbClr val="0F172A"/>
                </a:solidFill>
                <a:latin typeface="Segoe UI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754880"/>
            <a:ext cx="4846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A 4-level local alarm: buzzer and LED fire even with the network down.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508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Photo: 18650 / 21700 cells — Wikimedia Commons, CC0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Two AI layers, split by how fast each answer is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1945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6-cell test pack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6 × DS18B20  ·  INA228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1 sample / second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10312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03120"/>
            <a:ext cx="26517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ESP32-S3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LAYER 1 — autoencoder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runs on-device, every second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1031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103120"/>
            <a:ext cx="2286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MQTT / WISE-PaaS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/wisepaas/scada/{nodeId}/data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210312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10312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Cloud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LAYER 2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health / remaining life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1× per charge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788920"/>
            <a:ext cx="594360" cy="0"/>
          </a:xfrm>
          <a:prstGeom prst="line">
            <a:avLst/>
          </a:prstGeom>
          <a:ln w="2857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46520" y="2788920"/>
            <a:ext cx="594360" cy="0"/>
          </a:xfrm>
          <a:prstGeom prst="line">
            <a:avLst/>
          </a:prstGeom>
          <a:ln w="2857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09760" y="2788920"/>
            <a:ext cx="502920" cy="0"/>
          </a:xfrm>
          <a:prstGeom prst="line">
            <a:avLst/>
          </a:prstGeom>
          <a:ln w="2857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11880" y="4114800"/>
            <a:ext cx="2834640" cy="1051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4114800"/>
            <a:ext cx="2651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LOCAL ALARM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buzzer + LED · works offline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0" y="3474720"/>
            <a:ext cx="0" cy="640080"/>
          </a:xfrm>
          <a:prstGeom prst="line">
            <a:avLst/>
          </a:prstGeom>
          <a:ln w="28575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0" y="411480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411480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Store &amp; forward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buffered in flash while offline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75320" y="3474720"/>
            <a:ext cx="0" cy="64008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5532120"/>
            <a:ext cx="10927080" cy="82296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 i="0">
                <a:solidFill>
                  <a:srgbClr val="0F172A"/>
                </a:solidFill>
                <a:latin typeface="Segoe UI"/>
              </a:rPr>
              <a:t>Safety never depends on the network. The device detects and alarms on its own; the cloud adds dashboards and long-term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The hardware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A 6-cell 18650 test pack — every cell has its own probe.</a:t>
            </a:r>
          </a:p>
        </p:txBody>
      </p:sp>
      <p:pic>
        <p:nvPicPr>
          <p:cNvPr id="6" name="Picture 5" descr="esp32.jpg"/>
          <p:cNvPicPr>
            <a:picLocks noChangeAspect="1"/>
          </p:cNvPicPr>
          <p:nvPr/>
        </p:nvPicPr>
        <p:blipFill>
          <a:blip r:embed="rId2"/>
          <a:srcRect t="22727" b="22727"/>
          <a:stretch>
            <a:fillRect/>
          </a:stretch>
        </p:blipFill>
        <p:spPr>
          <a:xfrm>
            <a:off x="685800" y="2011680"/>
            <a:ext cx="25146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977639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ESP32-S3-DevKitC-1
vector instructions for ML</a:t>
            </a:r>
          </a:p>
        </p:txBody>
      </p:sp>
      <p:pic>
        <p:nvPicPr>
          <p:cNvPr id="8" name="Picture 7" descr="ds18b20.jpg"/>
          <p:cNvPicPr>
            <a:picLocks noChangeAspect="1"/>
          </p:cNvPicPr>
          <p:nvPr/>
        </p:nvPicPr>
        <p:blipFill>
          <a:blip r:embed="rId3"/>
          <a:srcRect t="13636" b="13636"/>
          <a:stretch>
            <a:fillRect/>
          </a:stretch>
        </p:blipFill>
        <p:spPr>
          <a:xfrm>
            <a:off x="3474720" y="2011680"/>
            <a:ext cx="25146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4720" y="3977639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6 × DS18B20
one probe per cell</a:t>
            </a:r>
          </a:p>
        </p:txBody>
      </p:sp>
      <p:pic>
        <p:nvPicPr>
          <p:cNvPr id="10" name="Picture 9" descr="bms6s.jpg"/>
          <p:cNvPicPr>
            <a:picLocks noChangeAspect="1"/>
          </p:cNvPicPr>
          <p:nvPr/>
        </p:nvPicPr>
        <p:blipFill>
          <a:blip r:embed="rId4"/>
          <a:srcRect l="4167" r="4167"/>
          <a:stretch>
            <a:fillRect/>
          </a:stretch>
        </p:blipFill>
        <p:spPr>
          <a:xfrm>
            <a:off x="6263640" y="2011680"/>
            <a:ext cx="25146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3977639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6S BMS with balancing
the part that cuts out</a:t>
            </a:r>
          </a:p>
        </p:txBody>
      </p:sp>
      <p:pic>
        <p:nvPicPr>
          <p:cNvPr id="12" name="Picture 11" descr="cells_charger.jpg"/>
          <p:cNvPicPr>
            <a:picLocks noChangeAspect="1"/>
          </p:cNvPicPr>
          <p:nvPr/>
        </p:nvPicPr>
        <p:blipFill>
          <a:blip r:embed="rId5"/>
          <a:srcRect t="24026" b="24026"/>
          <a:stretch>
            <a:fillRect/>
          </a:stretch>
        </p:blipFill>
        <p:spPr>
          <a:xfrm>
            <a:off x="9052560" y="2011680"/>
            <a:ext cx="25146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2560" y="3977639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6 matched 18650 cells
same batch, same 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66360"/>
            <a:ext cx="10835640" cy="96012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10241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Faults are induced safely: a ceramic power resistor warms one cell. Firmware hard-cuts the heater at 60 °C. No cell is ever abused.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Component photos: Wikimedia Commons (CC BY-SA 4.0 / CC BY 2.0 / CC0)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Layer 1 — the odd-cell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Runs on the microcontroller itself, every second, with no internet.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B45309"/>
                </a:solidFill>
                <a:latin typeface="Segoe UI"/>
              </a:rPr>
              <a:t>It reads relations, not degrees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·  how far it sits from the pack average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·  whether it heats up faster than the others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·  slow drift (ageing) vs. sudden jump (fault)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It alarms only if the signal persists for half a minute — noise alone never triggers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65960"/>
            <a:ext cx="2377440" cy="15727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12264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900" b="1" i="0">
                <a:solidFill>
                  <a:srgbClr val="B45309"/>
                </a:solidFill>
                <a:latin typeface="Segoe UI"/>
              </a:rPr>
              <a:t>tiny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0720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about 1 KB
of flash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965960"/>
            <a:ext cx="2377440" cy="15727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112264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900" b="1" i="0">
                <a:solidFill>
                  <a:srgbClr val="B45309"/>
                </a:solidFill>
                <a:latin typeface="Segoe UI"/>
              </a:rPr>
              <a:t>1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80720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inference rate
on the device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703320"/>
            <a:ext cx="2377440" cy="15727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849624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54456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detection needs
no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703320"/>
            <a:ext cx="2377440" cy="15727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3849624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900" b="1" i="0">
                <a:solidFill>
                  <a:srgbClr val="B45309"/>
                </a:solidFill>
                <a:latin typeface="Segoe UI"/>
              </a:rPr>
              <a:t>60 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54456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hard threshold,
outside the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577840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77840"/>
            <a:ext cx="10241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 i="0">
                <a:solidFill>
                  <a:srgbClr val="0F172A"/>
                </a:solidFill>
                <a:latin typeface="Segoe UI"/>
              </a:rPr>
              <a:t>If the model is ever wrong, the hard threshold still fires. That line is never removed.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What we have tested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A lab pack of similar cells, plus public datasets from real packs — not an EV pack in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08356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Sensors and data path, on the 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5029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15803D"/>
                </a:solidFill>
                <a:latin typeface="Segoe UI"/>
              </a:rPr>
              <a:t>live on the dashboard, buffered while offline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07792"/>
            <a:ext cx="10835640" cy="6858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07792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Alarm logic, full bench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07792"/>
            <a:ext cx="5029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15803D"/>
                </a:solidFill>
                <a:latin typeface="Segoe UI"/>
              </a:rPr>
              <a:t>all four levels correct, even with the AI disabled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66744"/>
            <a:ext cx="108356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66744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Public dataset, injected cell 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66744"/>
            <a:ext cx="5029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15803D"/>
                </a:solidFill>
                <a:latin typeface="Segoe UI"/>
              </a:rPr>
              <a:t>detected reliably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25696"/>
            <a:ext cx="10835640" cy="6858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25696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Independent real pack, unseen in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25696"/>
            <a:ext cx="5029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15803D"/>
                </a:solidFill>
                <a:latin typeface="Segoe UI"/>
              </a:rPr>
              <a:t>faulty runs separate clearly from healthy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72200"/>
            <a:ext cx="10835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1">
                <a:solidFill>
                  <a:srgbClr val="475569"/>
                </a:solidFill>
                <a:latin typeface="Segoe UI"/>
              </a:rPr>
              <a:t>These are results on the bench and on public datasets. Warming a cell on our own pack, and measuring an EV pack in service, are the next two steps — we have not done them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The test we failed — and what it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We report this because it is the strongest engineering result we have.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474720" cy="3520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9260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2100" b="1" i="0">
                <a:solidFill>
                  <a:srgbClr val="B91C1C"/>
                </a:solidFill>
                <a:latin typeface="Segoe UI"/>
              </a:rPr>
              <a:t>1 · FAILED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On a real pack we had never trained on, the model alarmed on a healthy run.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 i="0">
                <a:solidFill>
                  <a:srgbClr val="475569"/>
                </a:solidFill>
                <a:latin typeface="Segoe UI"/>
              </a:rPr>
              <a:t>Worse than on the faulty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39" y="2057400"/>
            <a:ext cx="3474720" cy="3520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331720"/>
            <a:ext cx="29260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2100" b="1" i="0">
                <a:solidFill>
                  <a:srgbClr val="B45309"/>
                </a:solidFill>
                <a:latin typeface="Segoe UI"/>
              </a:rPr>
              <a:t>2 · DIAGNOSED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The absolute inputs — ambient, current, charge level — had drifted far outside the training range.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 i="0">
                <a:solidFill>
                  <a:srgbClr val="475569"/>
                </a:solidFill>
                <a:latin typeface="Segoe UI"/>
              </a:rPr>
              <a:t>They are the same for every cell, so they lifted all cells at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8" y="2057400"/>
            <a:ext cx="3474720" cy="352044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198" y="2331720"/>
            <a:ext cx="29260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2100" b="1" i="0">
                <a:solidFill>
                  <a:srgbClr val="15803D"/>
                </a:solidFill>
                <a:latin typeface="Segoe UI"/>
              </a:rPr>
              <a:t>3 · FIXED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Dropped them. Kept only cell-to-cell relations.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 i="0">
                <a:solidFill>
                  <a:srgbClr val="475569"/>
                </a:solidFill>
                <a:latin typeface="Segoe UI"/>
              </a:rPr>
              <a:t>Fewer false alarms, better detection, and the model now transfers to unseen packs.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835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B45309"/>
                </a:solidFill>
                <a:latin typeface="Segoe UI"/>
              </a:rPr>
              <a:t>This is also what makes mass production possible: one identical model ships in every unit.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Layer 2 — how long will this pack last?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You cannot deep-discharge a pack every week. But everyone charges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50292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Read the shape of the charge curve.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8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900" b="0" i="0">
                <a:solidFill>
                  <a:srgbClr val="0F172A"/>
                </a:solidFill>
                <a:latin typeface="Segoe UI"/>
              </a:rPr>
              <a:t>An aged cell reaches the voltage limit early, then stays in constant-voltage far longer.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8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900" b="0" i="0">
                <a:solidFill>
                  <a:srgbClr val="475569"/>
                </a:solidFill>
                <a:latin typeface="Segoe UI"/>
              </a:rPr>
              <a:t>Measured during an ordinary charge — nobody has to do anything.</a:t>
            </a:r>
          </a:p>
        </p:txBody>
      </p:sp>
      <p:pic>
        <p:nvPicPr>
          <p:cNvPr id="7" name="Picture 6" descr="fig_charge_curve.png"/>
          <p:cNvPicPr>
            <a:picLocks noChangeAspect="1"/>
          </p:cNvPicPr>
          <p:nvPr/>
        </p:nvPicPr>
        <p:blipFill>
          <a:blip r:embed="rId2"/>
          <a:srcRect l="151" r="151"/>
          <a:stretch>
            <a:fillRect/>
          </a:stretch>
        </p:blipFill>
        <p:spPr>
          <a:xfrm>
            <a:off x="5943600" y="1920240"/>
            <a:ext cx="5577840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577840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577840"/>
            <a:ext cx="10241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Layer 2 runs in the cloud on purpose: improving the model must not require reflashing every vehicle.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Four alarm levels, not one buzzer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"Keep an eye on it" and "cut the charger now" are different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514600" cy="2057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15803D"/>
                </a:solidFill>
                <a:latin typeface="Segoe UI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475569"/>
                </a:solidFill>
                <a:latin typeface="Segoe UI"/>
              </a:rPr>
              <a:t>normal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3108960"/>
            <a:ext cx="27432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103120"/>
            <a:ext cx="2514600" cy="2057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B45309"/>
                </a:solidFill>
                <a:latin typeface="Segoe UI"/>
              </a:rPr>
              <a:t>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475569"/>
                </a:solidFill>
                <a:latin typeface="Segoe UI"/>
              </a:rPr>
              <a:t>one cell drifting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3108960"/>
            <a:ext cx="27432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2103120"/>
            <a:ext cx="2514600" cy="2057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37744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C2410C"/>
                </a:solidFill>
                <a:latin typeface="Segoe UI"/>
              </a:rPr>
              <a:t>ALARM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089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475569"/>
                </a:solidFill>
                <a:latin typeface="Segoe UI"/>
              </a:rPr>
              <a:t>AI, sustained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0" y="3108960"/>
            <a:ext cx="27432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60" y="2103120"/>
            <a:ext cx="2514600" cy="2057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4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 i="0">
                <a:solidFill>
                  <a:srgbClr val="B91C1C"/>
                </a:solidFill>
                <a:latin typeface="Segoe UI"/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1089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475569"/>
                </a:solidFill>
                <a:latin typeface="Segoe UI"/>
              </a:rPr>
              <a:t>any cell over 60 °C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8056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47548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SENSOR LOST is blue, not red.
"I cannot see the pack" ≠ "the pack is dangerous".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4805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480560"/>
            <a:ext cx="470916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Mute exists — and mute never kills the light.
A buzzer you cannot silence gets its wires cut.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Where the system runs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We already speak the WISE-PaaS protocol — we are simply hosting the layers ourselves.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103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ESP32-S3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WISE-PaaS payload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19456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1828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Mosquitto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MQTT broker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788920"/>
            <a:ext cx="274320" cy="0"/>
          </a:xfrm>
          <a:prstGeom prst="line">
            <a:avLst/>
          </a:prstGeom>
          <a:ln w="2857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0" y="219456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194560"/>
            <a:ext cx="1828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Node-RED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parse + Layer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12080" y="2788920"/>
            <a:ext cx="457200" cy="0"/>
          </a:xfrm>
          <a:prstGeom prst="line">
            <a:avLst/>
          </a:prstGeom>
          <a:ln w="2857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2194560"/>
            <a:ext cx="1600200" cy="1188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InfluxDB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time series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80960" y="2788920"/>
            <a:ext cx="457200" cy="0"/>
          </a:xfrm>
          <a:prstGeom prst="line">
            <a:avLst/>
          </a:prstGeom>
          <a:ln w="2857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2194560"/>
            <a:ext cx="1508760" cy="1188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2194560"/>
            <a:ext cx="1325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Grafana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dashboard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38360" y="2788920"/>
            <a:ext cx="320040" cy="0"/>
          </a:xfrm>
          <a:prstGeom prst="line">
            <a:avLst/>
          </a:prstGeom>
          <a:ln w="2857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4930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B45309"/>
                </a:solidFill>
                <a:latin typeface="Segoe UI"/>
              </a:rPr>
              <a:t>topic  /wisepaas/scada/{nodeId}/data  — the same format as Advantech's own Edge SDK</a:t>
            </a:r>
          </a:p>
        </p:txBody>
      </p:sp>
      <p:pic>
        <p:nvPicPr>
          <p:cNvPr id="21" name="Picture 20" descr="dashboar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15" y="3931920"/>
            <a:ext cx="7414090" cy="23774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73515" y="3931920"/>
            <a:ext cx="7414090" cy="2377440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977639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0F172A"/>
                </a:solidFill>
                <a:latin typeface="Segoe UI"/>
              </a:rPr>
              <a:t>Why this stack?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475569"/>
                </a:solidFill>
                <a:latin typeface="Segoe UI"/>
              </a:rPr>
              <a:t>These are the same components WISE-PaaS is built 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0F172A"/>
                </a:solidFill>
                <a:latin typeface="Segoe UI"/>
              </a:rPr>
              <a:t>Nothing here is a workaround we would have to throw away.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Our own Grafana dashboard — data shown is simulated for this screenshot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What the operator actually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Three seconds to answer: is the pack safe, which cell, and can I trust the number?</a:t>
            </a:r>
          </a:p>
        </p:txBody>
      </p:sp>
      <p:pic>
        <p:nvPicPr>
          <p:cNvPr id="6" name="Picture 5" descr="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906" y="1920240"/>
            <a:ext cx="6323308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18906" y="1920240"/>
            <a:ext cx="6323308" cy="4389120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965960"/>
            <a:ext cx="2999232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075688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B45309"/>
                </a:solidFill>
                <a:latin typeface="Segoe UI"/>
              </a:rPr>
              <a:t>Top row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24328"/>
            <a:ext cx="2606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Pack state, suspect cell, hottest cell, sensor health — no chart reading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474720"/>
            <a:ext cx="2999232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584448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B45309"/>
                </a:solidFill>
                <a:latin typeface="Segoe UI"/>
              </a:rPr>
              <a:t>Cell #3 stands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133088"/>
            <a:ext cx="2606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The bar gauge is a spatial comparison, so the odd cell is obvious at a glance.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983480"/>
            <a:ext cx="2999232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5093208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B45309"/>
                </a:solidFill>
                <a:latin typeface="Segoe UI"/>
              </a:rPr>
              <a:t>Honest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5641848"/>
            <a:ext cx="2606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Numbers that are still assumptions label themselves on screen.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Our own Grafana dashboard. The data in this screenshot is simulated to show the scenario.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With a WISE-PaaS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A config change, not a rewrite — the firmware does not change by a single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ESP32-S3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unchanged firmware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same payload, same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19456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79" y="2194560"/>
            <a:ext cx="28346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WISE-PaaS IoT Hub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device management + TLS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194560"/>
            <a:ext cx="3703320" cy="6217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194560"/>
            <a:ext cx="35204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WISE-PaaS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944368"/>
            <a:ext cx="3703320" cy="6217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944368"/>
            <a:ext cx="35204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AFS — Layer 2 model serving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2880360"/>
            <a:ext cx="685799" cy="0"/>
          </a:xfrm>
          <a:prstGeom prst="line">
            <a:avLst/>
          </a:prstGeom>
          <a:ln w="2857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995160" y="2505456"/>
            <a:ext cx="548640" cy="374904"/>
          </a:xfrm>
          <a:prstGeom prst="line">
            <a:avLst/>
          </a:prstGeom>
          <a:ln w="22225">
            <a:solidFill>
              <a:srgbClr val="0369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95160" y="2880360"/>
            <a:ext cx="548640" cy="374904"/>
          </a:xfrm>
          <a:prstGeom prst="line">
            <a:avLst/>
          </a:prstGeom>
          <a:ln w="22225">
            <a:solidFill>
              <a:srgbClr val="0369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08960" y="36393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B45309"/>
                </a:solidFill>
                <a:latin typeface="Segoe UI"/>
              </a:rPr>
              <a:t>only the broker host + credentials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6052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0369A1"/>
                </a:solidFill>
                <a:latin typeface="Segoe UI"/>
              </a:rPr>
              <a:t>Device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Provisioning, TLS and OTA handled by the platform.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19" y="416052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315968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0369A1"/>
                </a:solidFill>
                <a:latin typeface="Segoe UI"/>
              </a:rPr>
              <a:t>Dashboards &amp;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50292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WISE-PaaS Dashboard replaces our Grafana.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8" y="416052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8" y="4315968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0369A1"/>
                </a:solidFill>
                <a:latin typeface="Segoe UI"/>
              </a:rPr>
              <a:t>AFS for Layer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8" y="50292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Retrain and redeploy without touching a vehicle.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ging.jpg"/>
          <p:cNvPicPr>
            <a:picLocks noChangeAspect="1"/>
          </p:cNvPicPr>
          <p:nvPr/>
        </p:nvPicPr>
        <p:blipFill>
          <a:blip r:embed="rId2"/>
          <a:srcRect l="27835" r="27835"/>
          <a:stretch>
            <a:fillRect/>
          </a:stretch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Live demo — 90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799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900" b="0" i="0">
                <a:solidFill>
                  <a:srgbClr val="0F172A"/>
                </a:solidFill>
                <a:latin typeface="Segoe UI"/>
              </a:rPr>
              <a:t>The dashboard is streaming live cell temperatures.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97479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9747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59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900" b="0" i="0">
                <a:solidFill>
                  <a:srgbClr val="0F172A"/>
                </a:solidFill>
                <a:latin typeface="Segoe UI"/>
              </a:rPr>
              <a:t>We unplug the network in front of you.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520439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2043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19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900" b="0" i="0">
                <a:solidFill>
                  <a:srgbClr val="0F172A"/>
                </a:solidFill>
                <a:latin typeface="Segoe UI"/>
              </a:rPr>
              <a:t>We warm one cell with the resistor.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343399"/>
            <a:ext cx="475488" cy="475488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4339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79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Segoe UI"/>
              </a:rPr>
              <a:t>The module detects it and sounds the alarm — still offline.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166359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663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20639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900" b="0" i="0">
                <a:solidFill>
                  <a:srgbClr val="0F172A"/>
                </a:solidFill>
                <a:latin typeface="Segoe UI"/>
              </a:rPr>
              <a:t>Network back: the offline data lands on the dashboard, at the right timestamps.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52160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1">
                <a:solidFill>
                  <a:srgbClr val="475569"/>
                </a:solidFill>
                <a:latin typeface="Segoe UI"/>
              </a:rPr>
              <a:t>Edge AI, local alarm and store-and-forward — all proven in one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5508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Photo: e-scooter charging station — Wikimedia Commons, CC BY-SA 3.0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wap_cabinet.jpg"/>
          <p:cNvPicPr>
            <a:picLocks noChangeAspect="1"/>
          </p:cNvPicPr>
          <p:nvPr/>
        </p:nvPicPr>
        <p:blipFill>
          <a:blip r:embed="rId2"/>
          <a:srcRect l="23707" r="23707"/>
          <a:stretch>
            <a:fillRect/>
          </a:stretch>
        </p:blipFill>
        <p:spPr>
          <a:xfrm>
            <a:off x="8778240" y="1737360"/>
            <a:ext cx="2788920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Who pays for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7772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B45309"/>
                </a:solidFill>
                <a:latin typeface="Segoe UI"/>
              </a:rPr>
              <a:t>Fleet operators and battery-swap networks — where one company owns the packs.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Owner = payer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788920"/>
            <a:ext cx="4754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The operator owns the packs, so whoever loses money on a dead pack is whoever can buy the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9476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Planned, not urgent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794760"/>
            <a:ext cx="4754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Pack replacement becomes scheduled maintenance instead of an emergency.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0060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No SIM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800600"/>
            <a:ext cx="4754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Packs come back to a station daily — station Wi-Fi is the uplink.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5216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1">
                <a:solidFill>
                  <a:srgbClr val="475569"/>
                </a:solidFill>
                <a:latin typeface="Segoe UI"/>
              </a:rPr>
              <a:t>Individual riders are the emotional story. Fleets are the business model — and we know the difference.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Photo: e-scooter battery-swap cabinets — Wikimedia Commons, CC BY-SA 4.0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What we have not proven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We would rather say it than be asked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0835640" cy="1280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B45309"/>
                </a:solidFill>
                <a:latin typeface="Segoe UI"/>
              </a:rPr>
              <a:t>A whole pack overheating uniformly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167128"/>
            <a:ext cx="5669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No deviation between cells, so Layer 1 stays silent. The hard 60 °C threshold covers it — not yet tested on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74720"/>
            <a:ext cx="10835640" cy="128016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B45309"/>
                </a:solidFill>
                <a:latin typeface="Segoe UI"/>
              </a:rPr>
              <a:t>A real EV pack in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584448"/>
            <a:ext cx="5669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So far: a lab pack of similar cells, plus public datasets. Measuring a vehicle in daily use is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92040"/>
            <a:ext cx="10835640" cy="1280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2920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B45309"/>
                </a:solidFill>
                <a:latin typeface="Segoe UI"/>
              </a:rPr>
              <a:t>Ageing prediction on a worn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5001768"/>
            <a:ext cx="5669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Our cells are new — one point at the top of the scale. We plan to borrow a degraded pack.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1" i="0">
                <a:solidFill>
                  <a:srgbClr val="0F172A"/>
                </a:solidFill>
                <a:latin typeface="Segoe UI"/>
              </a:rPr>
              <a:t>Nothing in this deck is claimed to be more than what we actually measured.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From semi-final to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100584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 i="0">
                <a:solidFill>
                  <a:srgbClr val="475569"/>
                </a:solidFill>
                <a:latin typeface="Segoe UI"/>
              </a:rPr>
              <a:t>27 November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00400"/>
            <a:ext cx="9966960" cy="508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3044952"/>
            <a:ext cx="384048" cy="38404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B45309"/>
                </a:solidFill>
                <a:latin typeface="Segoe U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274320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6-cell rig, Layer 1 on the device, 4-level alarm, cloud stack running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3044952"/>
            <a:ext cx="384048" cy="384048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0369A1"/>
                </a:solidFill>
                <a:latin typeface="Segoe UI"/>
              </a:rPr>
              <a:t>OCT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749039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749039"/>
            <a:ext cx="274320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Current sensing → real charge cycles → real Layer 2 results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0" y="3044952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3774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5803D"/>
                </a:solidFill>
                <a:latin typeface="Segoe UI"/>
              </a:rPr>
              <a:t>NOV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749039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749039"/>
            <a:ext cx="274320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800" b="0" i="0">
                <a:solidFill>
                  <a:srgbClr val="0F172A"/>
                </a:solidFill>
                <a:latin typeface="Segoe UI"/>
              </a:rPr>
              <a:t>Worn-pack validation · enclosure · cost model · fleet interviews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ll_explosion.jpg"/>
          <p:cNvPicPr>
            <a:picLocks noChangeAspect="1"/>
          </p:cNvPicPr>
          <p:nvPr/>
        </p:nvPicPr>
        <p:blipFill>
          <a:blip r:embed="rId2"/>
          <a:srcRect l="27376" r="27376"/>
          <a:stretch>
            <a:fillRect/>
          </a:stretch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One cell starts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B45309"/>
                </a:solidFill>
                <a:latin typeface="Segoe UI"/>
              </a:rPr>
              <a:t>We watch every one of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1645920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100" b="1" i="0">
                <a:solidFill>
                  <a:srgbClr val="0F172A"/>
                </a:solidFill>
                <a:latin typeface="Segoe UI"/>
              </a:rPr>
              <a:t>Team Hu Tieu  ·  ICTU – Thai Nguyen University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475569"/>
                </a:solidFill>
                <a:latin typeface="Segoe UI"/>
              </a:rPr>
              <a:t>Thank you. Questions welcome — especially the hard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Photo: 18650 cell after thermal runaway — Wikimedia Commons,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