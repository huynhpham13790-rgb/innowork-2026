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jal787.jpg"/>
          <p:cNvPicPr>
            <a:picLocks noChangeAspect="1"/>
          </p:cNvPicPr>
          <p:nvPr/>
        </p:nvPicPr>
        <p:blipFill>
          <a:blip r:embed="rId2"/>
          <a:srcRect l="22309" r="22309"/>
          <a:stretch>
            <a:fillRect/>
          </a:stretch>
        </p:blipFill>
        <p:spPr>
          <a:xfrm>
            <a:off x="6492240" y="0"/>
            <a:ext cx="5699455" cy="6858000"/>
          </a:xfrm>
          <a:prstGeom prst="rect">
            <a:avLst/>
          </a:prstGeom>
        </p:spPr>
      </p:pic>
      <p:sp>
        <p:nvSpPr>
          <p:cNvPr id="4" name="TextBox 3"/>
          <p:cNvSpPr txBox="1"/>
          <p:nvPr/>
        </p:nvSpPr>
        <p:spPr>
          <a:xfrm>
            <a:off x="731520" y="1463040"/>
            <a:ext cx="5394960" cy="457200"/>
          </a:xfrm>
          <a:prstGeom prst="rect">
            <a:avLst/>
          </a:prstGeom>
          <a:noFill/>
        </p:spPr>
        <p:txBody>
          <a:bodyPr wrap="square" anchor="t" lIns="0" rIns="0" tIns="0" bIns="0">
            <a:spAutoFit/>
          </a:bodyPr>
          <a:lstStyle/>
          <a:p>
            <a:pPr algn="l">
              <a:lnSpc>
                <a:spcPct val="115000"/>
              </a:lnSpc>
              <a:spcAft>
                <a:spcPts val="800"/>
              </a:spcAft>
            </a:pPr>
            <a:r>
              <a:rPr sz="1900" b="1" i="0">
                <a:solidFill>
                  <a:srgbClr val="B45309"/>
                </a:solidFill>
                <a:latin typeface="Segoe UI"/>
              </a:rPr>
              <a:t>AIoT InnoWorks 2026  ·  Vòng Bán kết</a:t>
            </a:r>
          </a:p>
        </p:txBody>
      </p:sp>
      <p:sp>
        <p:nvSpPr>
          <p:cNvPr id="5" name="TextBox 4"/>
          <p:cNvSpPr txBox="1"/>
          <p:nvPr/>
        </p:nvSpPr>
        <p:spPr>
          <a:xfrm>
            <a:off x="731520" y="1874519"/>
            <a:ext cx="5394960" cy="2103120"/>
          </a:xfrm>
          <a:prstGeom prst="rect">
            <a:avLst/>
          </a:prstGeom>
          <a:noFill/>
        </p:spPr>
        <p:txBody>
          <a:bodyPr wrap="square" anchor="t" lIns="0" rIns="0" tIns="0" bIns="0">
            <a:spAutoFit/>
          </a:bodyPr>
          <a:lstStyle/>
          <a:p>
            <a:pPr algn="l">
              <a:lnSpc>
                <a:spcPct val="112000"/>
              </a:lnSpc>
              <a:spcAft>
                <a:spcPts val="800"/>
              </a:spcAft>
            </a:pPr>
            <a:r>
              <a:rPr sz="3600" b="1" i="0">
                <a:solidFill>
                  <a:srgbClr val="0F172A"/>
                </a:solidFill>
                <a:latin typeface="Segoe UI"/>
              </a:rPr>
              <a:t>Giám sát an toàn nhiệt
pack pin xe điện bằng Edge AI</a:t>
            </a:r>
          </a:p>
        </p:txBody>
      </p:sp>
      <p:sp>
        <p:nvSpPr>
          <p:cNvPr id="6" name="Rectangle 5"/>
          <p:cNvSpPr/>
          <p:nvPr/>
        </p:nvSpPr>
        <p:spPr>
          <a:xfrm>
            <a:off x="731520" y="3977639"/>
            <a:ext cx="164592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97680"/>
            <a:ext cx="5394960" cy="1463040"/>
          </a:xfrm>
          <a:prstGeom prst="rect">
            <a:avLst/>
          </a:prstGeom>
          <a:noFill/>
        </p:spPr>
        <p:txBody>
          <a:bodyPr wrap="square" anchor="t" lIns="0" rIns="0" tIns="0" bIns="0">
            <a:spAutoFit/>
          </a:bodyPr>
          <a:lstStyle/>
          <a:p>
            <a:pPr algn="l">
              <a:lnSpc>
                <a:spcPct val="115000"/>
              </a:lnSpc>
              <a:spcAft>
                <a:spcPts val="1000"/>
              </a:spcAft>
            </a:pPr>
            <a:r>
              <a:rPr sz="2100" b="1" i="0">
                <a:solidFill>
                  <a:srgbClr val="0F172A"/>
                </a:solidFill>
                <a:latin typeface="Segoe UI"/>
              </a:rPr>
              <a:t>Đội Hủ Tiếu  ·  ICTU – Đại học Thái Nguyên</a:t>
            </a:r>
          </a:p>
          <a:p>
            <a:pPr algn="l">
              <a:lnSpc>
                <a:spcPct val="115000"/>
              </a:lnSpc>
              <a:spcAft>
                <a:spcPts val="1000"/>
              </a:spcAft>
            </a:pPr>
            <a:r>
              <a:rPr sz="1900" b="0" i="1">
                <a:solidFill>
                  <a:srgbClr val="B45309"/>
                </a:solidFill>
                <a:latin typeface="Segoe UI"/>
              </a:rPr>
              <a:t>Tìm ra cell hỏng trước khi nó thành đám cháy.</a:t>
            </a:r>
          </a:p>
        </p:txBody>
      </p:sp>
      <p:sp>
        <p:nvSpPr>
          <p:cNvPr id="8" name="TextBox 7"/>
          <p:cNvSpPr txBox="1"/>
          <p:nvPr/>
        </p:nvSpPr>
        <p:spPr>
          <a:xfrm>
            <a:off x="685800" y="6355080"/>
            <a:ext cx="5852160" cy="411480"/>
          </a:xfrm>
          <a:prstGeom prst="rect">
            <a:avLst/>
          </a:prstGeom>
          <a:noFill/>
        </p:spPr>
        <p:txBody>
          <a:bodyPr wrap="square" anchor="t" lIns="0" rIns="0" tIns="0" bIns="0">
            <a:spAutoFit/>
          </a:bodyPr>
          <a:lstStyle/>
          <a:p>
            <a:pPr algn="l">
              <a:lnSpc>
                <a:spcPct val="110000"/>
              </a:lnSpc>
              <a:spcAft>
                <a:spcPts val="800"/>
              </a:spcAft>
            </a:pPr>
            <a:r>
              <a:rPr sz="1000" b="0" i="0">
                <a:solidFill>
                  <a:srgbClr val="64748B"/>
                </a:solidFill>
                <a:latin typeface="Segoe UI"/>
              </a:rPr>
              <a:t>Ảnh: pack pin lithium-ion hỏng vì thermal runaway (pin APU Boeing 787 của JAL) — NTSB, phạm vi công cộng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uto_vallejo.jpg"/>
          <p:cNvPicPr>
            <a:picLocks noChangeAspect="1"/>
          </p:cNvPicPr>
          <p:nvPr/>
        </p:nvPicPr>
        <p:blipFill>
          <a:blip r:embed="rId2"/>
          <a:srcRect l="11489" r="14042"/>
          <a:stretch>
            <a:fillRect/>
          </a:stretch>
        </p:blipFill>
        <p:spPr>
          <a:xfrm>
            <a:off x="6675120" y="0"/>
            <a:ext cx="5516575" cy="6858000"/>
          </a:xfrm>
          <a:prstGeom prst="rect">
            <a:avLst/>
          </a:prstGeom>
        </p:spPr>
      </p:pic>
      <p:sp>
        <p:nvSpPr>
          <p:cNvPr id="4" name="TextBox 3"/>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Vấn đề</a:t>
            </a:r>
          </a:p>
        </p:txBody>
      </p:sp>
      <p:sp>
        <p:nvSpPr>
          <p:cNvPr id="5" name="Rectangle 4"/>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00200"/>
            <a:ext cx="5486400" cy="1463040"/>
          </a:xfrm>
          <a:prstGeom prst="rect">
            <a:avLst/>
          </a:prstGeom>
          <a:noFill/>
        </p:spPr>
        <p:txBody>
          <a:bodyPr wrap="square" anchor="t" lIns="0" rIns="0" tIns="0" bIns="0">
            <a:spAutoFit/>
          </a:bodyPr>
          <a:lstStyle/>
          <a:p>
            <a:pPr algn="l">
              <a:lnSpc>
                <a:spcPct val="115000"/>
              </a:lnSpc>
              <a:spcAft>
                <a:spcPts val="800"/>
              </a:spcAft>
            </a:pPr>
            <a:r>
              <a:rPr sz="2500" b="1" i="0">
                <a:solidFill>
                  <a:srgbClr val="0F172A"/>
                </a:solidFill>
                <a:latin typeface="Segoe UI"/>
              </a:rPr>
              <a:t>Pack pin không hỏng đồng loạt.</a:t>
            </a:r>
          </a:p>
          <a:p>
            <a:pPr algn="l">
              <a:lnSpc>
                <a:spcPct val="115000"/>
              </a:lnSpc>
              <a:spcAft>
                <a:spcPts val="800"/>
              </a:spcAft>
            </a:pPr>
            <a:r>
              <a:rPr sz="2500" b="1" i="0">
                <a:solidFill>
                  <a:srgbClr val="B45309"/>
                </a:solidFill>
                <a:latin typeface="Segoe UI"/>
              </a:rPr>
              <a:t>Một cell yếu nóng lên trước.</a:t>
            </a:r>
          </a:p>
          <a:p>
            <a:pPr algn="l">
              <a:lnSpc>
                <a:spcPct val="115000"/>
              </a:lnSpc>
              <a:spcAft>
                <a:spcPts val="800"/>
              </a:spcAft>
            </a:pPr>
            <a:r>
              <a:rPr sz="800" b="0" i="0">
                <a:solidFill>
                  <a:srgbClr val="0F172A"/>
                </a:solidFill>
                <a:latin typeface="Segoe UI"/>
              </a:rPr>
              <a:t/>
            </a:r>
          </a:p>
          <a:p>
            <a:pPr algn="l">
              <a:lnSpc>
                <a:spcPct val="115000"/>
              </a:lnSpc>
              <a:spcAft>
                <a:spcPts val="800"/>
              </a:spcAft>
            </a:pPr>
            <a:r>
              <a:rPr sz="1900" b="0" i="0">
                <a:solidFill>
                  <a:srgbClr val="475569"/>
                </a:solidFill>
                <a:latin typeface="Segoe UI"/>
              </a:rPr>
              <a:t>Thermal runaway một khi đã chạy thì tự nuôi, không dừng được.</a:t>
            </a:r>
          </a:p>
        </p:txBody>
      </p:sp>
      <p:sp>
        <p:nvSpPr>
          <p:cNvPr id="7" name="Rounded Rectangle 6"/>
          <p:cNvSpPr/>
          <p:nvPr/>
        </p:nvSpPr>
        <p:spPr>
          <a:xfrm>
            <a:off x="685800" y="3611880"/>
            <a:ext cx="5486400" cy="804672"/>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611880"/>
            <a:ext cx="1783080" cy="804672"/>
          </a:xfrm>
          <a:prstGeom prst="rect">
            <a:avLst/>
          </a:prstGeom>
          <a:noFill/>
        </p:spPr>
        <p:txBody>
          <a:bodyPr wrap="square" anchor="ctr" lIns="0" rIns="0" tIns="0" bIns="0">
            <a:spAutoFit/>
          </a:bodyPr>
          <a:lstStyle/>
          <a:p>
            <a:pPr algn="l">
              <a:lnSpc>
                <a:spcPct val="115000"/>
              </a:lnSpc>
              <a:spcAft>
                <a:spcPts val="800"/>
              </a:spcAft>
            </a:pPr>
            <a:r>
              <a:rPr sz="2400" b="1" i="0">
                <a:solidFill>
                  <a:srgbClr val="B45309"/>
                </a:solidFill>
                <a:latin typeface="Segoe UI"/>
              </a:rPr>
              <a:t>~31%</a:t>
            </a:r>
          </a:p>
        </p:txBody>
      </p:sp>
      <p:sp>
        <p:nvSpPr>
          <p:cNvPr id="9" name="TextBox 8"/>
          <p:cNvSpPr txBox="1"/>
          <p:nvPr/>
        </p:nvSpPr>
        <p:spPr>
          <a:xfrm>
            <a:off x="2743200" y="3611880"/>
            <a:ext cx="3291840" cy="804672"/>
          </a:xfrm>
          <a:prstGeom prst="rect">
            <a:avLst/>
          </a:prstGeom>
          <a:noFill/>
        </p:spPr>
        <p:txBody>
          <a:bodyPr wrap="square" anchor="ctr" lIns="0" rIns="0" tIns="0" bIns="0">
            <a:spAutoFit/>
          </a:bodyPr>
          <a:lstStyle/>
          <a:p>
            <a:pPr algn="l">
              <a:lnSpc>
                <a:spcPct val="110000"/>
              </a:lnSpc>
              <a:spcAft>
                <a:spcPts val="800"/>
              </a:spcAft>
            </a:pPr>
            <a:r>
              <a:rPr sz="1700" b="0" i="0">
                <a:solidFill>
                  <a:srgbClr val="0F172A"/>
                </a:solidFill>
                <a:latin typeface="Segoe UI"/>
              </a:rPr>
              <a:t>vụ cháy xe điện xảy ra khi xe đang đỗ</a:t>
            </a:r>
          </a:p>
        </p:txBody>
      </p:sp>
      <p:sp>
        <p:nvSpPr>
          <p:cNvPr id="10" name="Rounded Rectangle 9"/>
          <p:cNvSpPr/>
          <p:nvPr/>
        </p:nvSpPr>
        <p:spPr>
          <a:xfrm>
            <a:off x="685800" y="4526280"/>
            <a:ext cx="5486400" cy="804672"/>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526280"/>
            <a:ext cx="1783080" cy="804672"/>
          </a:xfrm>
          <a:prstGeom prst="rect">
            <a:avLst/>
          </a:prstGeom>
          <a:noFill/>
        </p:spPr>
        <p:txBody>
          <a:bodyPr wrap="square" anchor="ctr" lIns="0" rIns="0" tIns="0" bIns="0">
            <a:spAutoFit/>
          </a:bodyPr>
          <a:lstStyle/>
          <a:p>
            <a:pPr algn="l">
              <a:lnSpc>
                <a:spcPct val="115000"/>
              </a:lnSpc>
              <a:spcAft>
                <a:spcPts val="800"/>
              </a:spcAft>
            </a:pPr>
            <a:r>
              <a:rPr sz="2400" b="1" i="0">
                <a:solidFill>
                  <a:srgbClr val="B45309"/>
                </a:solidFill>
                <a:latin typeface="Segoe UI"/>
              </a:rPr>
              <a:t>~25%</a:t>
            </a:r>
          </a:p>
        </p:txBody>
      </p:sp>
      <p:sp>
        <p:nvSpPr>
          <p:cNvPr id="12" name="TextBox 11"/>
          <p:cNvSpPr txBox="1"/>
          <p:nvPr/>
        </p:nvSpPr>
        <p:spPr>
          <a:xfrm>
            <a:off x="2743200" y="4526280"/>
            <a:ext cx="3291840" cy="804672"/>
          </a:xfrm>
          <a:prstGeom prst="rect">
            <a:avLst/>
          </a:prstGeom>
          <a:noFill/>
        </p:spPr>
        <p:txBody>
          <a:bodyPr wrap="square" anchor="ctr" lIns="0" rIns="0" tIns="0" bIns="0">
            <a:spAutoFit/>
          </a:bodyPr>
          <a:lstStyle/>
          <a:p>
            <a:pPr algn="l">
              <a:lnSpc>
                <a:spcPct val="110000"/>
              </a:lnSpc>
              <a:spcAft>
                <a:spcPts val="800"/>
              </a:spcAft>
            </a:pPr>
            <a:r>
              <a:rPr sz="1700" b="0" i="0">
                <a:solidFill>
                  <a:srgbClr val="0F172A"/>
                </a:solidFill>
                <a:latin typeface="Segoe UI"/>
              </a:rPr>
              <a:t>xảy ra trong hầm để xe</a:t>
            </a:r>
          </a:p>
        </p:txBody>
      </p:sp>
      <p:sp>
        <p:nvSpPr>
          <p:cNvPr id="13" name="Rounded Rectangle 12"/>
          <p:cNvSpPr/>
          <p:nvPr/>
        </p:nvSpPr>
        <p:spPr>
          <a:xfrm>
            <a:off x="685800" y="5440680"/>
            <a:ext cx="5486400" cy="804672"/>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440680"/>
            <a:ext cx="1783080" cy="804672"/>
          </a:xfrm>
          <a:prstGeom prst="rect">
            <a:avLst/>
          </a:prstGeom>
          <a:noFill/>
        </p:spPr>
        <p:txBody>
          <a:bodyPr wrap="square" anchor="ctr" lIns="0" rIns="0" tIns="0" bIns="0">
            <a:spAutoFit/>
          </a:bodyPr>
          <a:lstStyle/>
          <a:p>
            <a:pPr algn="l">
              <a:lnSpc>
                <a:spcPct val="115000"/>
              </a:lnSpc>
              <a:spcAft>
                <a:spcPts val="800"/>
              </a:spcAft>
            </a:pPr>
            <a:r>
              <a:rPr sz="2400" b="1" i="0">
                <a:solidFill>
                  <a:srgbClr val="B45309"/>
                </a:solidFill>
                <a:latin typeface="Segoe UI"/>
              </a:rPr>
              <a:t>1,5–12tr</a:t>
            </a:r>
          </a:p>
        </p:txBody>
      </p:sp>
      <p:sp>
        <p:nvSpPr>
          <p:cNvPr id="15" name="TextBox 14"/>
          <p:cNvSpPr txBox="1"/>
          <p:nvPr/>
        </p:nvSpPr>
        <p:spPr>
          <a:xfrm>
            <a:off x="2743200" y="5440680"/>
            <a:ext cx="3291840" cy="804672"/>
          </a:xfrm>
          <a:prstGeom prst="rect">
            <a:avLst/>
          </a:prstGeom>
          <a:noFill/>
        </p:spPr>
        <p:txBody>
          <a:bodyPr wrap="square" anchor="ctr" lIns="0" rIns="0" tIns="0" bIns="0">
            <a:spAutoFit/>
          </a:bodyPr>
          <a:lstStyle/>
          <a:p>
            <a:pPr algn="l">
              <a:lnSpc>
                <a:spcPct val="110000"/>
              </a:lnSpc>
              <a:spcAft>
                <a:spcPts val="800"/>
              </a:spcAft>
            </a:pPr>
            <a:r>
              <a:rPr sz="1700" b="0" i="0">
                <a:solidFill>
                  <a:srgbClr val="0F172A"/>
                </a:solidFill>
                <a:latin typeface="Segoe UI"/>
              </a:rPr>
              <a:t>đồng để thay một pack xe máy điện</a:t>
            </a:r>
          </a:p>
        </p:txBody>
      </p:sp>
      <p:sp>
        <p:nvSpPr>
          <p:cNvPr id="16" name="TextBox 15"/>
          <p:cNvSpPr txBox="1"/>
          <p:nvPr/>
        </p:nvSpPr>
        <p:spPr>
          <a:xfrm>
            <a:off x="685800" y="6355080"/>
            <a:ext cx="5852160" cy="411480"/>
          </a:xfrm>
          <a:prstGeom prst="rect">
            <a:avLst/>
          </a:prstGeom>
          <a:noFill/>
        </p:spPr>
        <p:txBody>
          <a:bodyPr wrap="square" anchor="t" lIns="0" rIns="0" tIns="0" bIns="0">
            <a:spAutoFit/>
          </a:bodyPr>
          <a:lstStyle/>
          <a:p>
            <a:pPr algn="l">
              <a:lnSpc>
                <a:spcPct val="110000"/>
              </a:lnSpc>
              <a:spcAft>
                <a:spcPts val="800"/>
              </a:spcAft>
            </a:pPr>
            <a:r>
              <a:rPr sz="1000" b="0" i="0">
                <a:solidFill>
                  <a:srgbClr val="64748B"/>
                </a:solidFill>
                <a:latin typeface="Segoe UI"/>
              </a:rPr>
              <a:t>Ảnh: xe cháy trong bãi đỗ (không phải xe điện) — Jim Heaphy, CC BY-SA 3.0  ·  Số liệu cháy: EV FireSafe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2900" b="1" i="0">
                <a:solidFill>
                  <a:srgbClr val="0F172A"/>
                </a:solidFill>
                <a:latin typeface="Segoe UI"/>
              </a:rPr>
              <a:t>BMS nào cũng có ngưỡng cứng 60 °C. Vậy cần AI làm gì?</a:t>
            </a:r>
          </a:p>
        </p:txBody>
      </p:sp>
      <p:sp>
        <p:nvSpPr>
          <p:cNvPr id="4" name="Rectangle 3"/>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10881360" cy="457200"/>
          </a:xfrm>
          <a:prstGeom prst="rect">
            <a:avLst/>
          </a:prstGeom>
          <a:noFill/>
        </p:spPr>
        <p:txBody>
          <a:bodyPr wrap="square" anchor="t" lIns="0" rIns="0" tIns="0" bIns="0">
            <a:spAutoFit/>
          </a:bodyPr>
          <a:lstStyle/>
          <a:p>
            <a:pPr algn="l">
              <a:lnSpc>
                <a:spcPct val="115000"/>
              </a:lnSpc>
              <a:spcAft>
                <a:spcPts val="800"/>
              </a:spcAft>
            </a:pPr>
            <a:r>
              <a:rPr sz="2000" b="0" i="0">
                <a:solidFill>
                  <a:srgbClr val="475569"/>
                </a:solidFill>
                <a:latin typeface="Segoe UI"/>
              </a:rPr>
              <a:t>Vì dấu hiệu nguy hiểm xuất hiện rất lâu trước khi chạm bất kỳ ngưỡng tuyệt đối nào.</a:t>
            </a:r>
          </a:p>
        </p:txBody>
      </p:sp>
      <p:pic>
        <p:nvPicPr>
          <p:cNvPr id="6" name="Picture 5" descr="fig_deviation.png"/>
          <p:cNvPicPr>
            <a:picLocks noChangeAspect="1"/>
          </p:cNvPicPr>
          <p:nvPr/>
        </p:nvPicPr>
        <p:blipFill>
          <a:blip r:embed="rId2"/>
          <a:srcRect l="1075" r="1075"/>
          <a:stretch>
            <a:fillRect/>
          </a:stretch>
        </p:blipFill>
        <p:spPr>
          <a:xfrm>
            <a:off x="685800" y="1965960"/>
            <a:ext cx="5943600" cy="3429000"/>
          </a:xfrm>
          <a:prstGeom prst="rect">
            <a:avLst/>
          </a:prstGeom>
        </p:spPr>
      </p:pic>
      <p:sp>
        <p:nvSpPr>
          <p:cNvPr id="7" name="Rounded Rectangle 6"/>
          <p:cNvSpPr/>
          <p:nvPr/>
        </p:nvSpPr>
        <p:spPr>
          <a:xfrm>
            <a:off x="6949440" y="1965960"/>
            <a:ext cx="4572000" cy="164592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69480" y="1965960"/>
            <a:ext cx="4023360" cy="1645920"/>
          </a:xfrm>
          <a:prstGeom prst="rect">
            <a:avLst/>
          </a:prstGeom>
          <a:noFill/>
        </p:spPr>
        <p:txBody>
          <a:bodyPr wrap="square" anchor="ctr" lIns="0" rIns="0" tIns="0" bIns="0">
            <a:spAutoFit/>
          </a:bodyPr>
          <a:lstStyle/>
          <a:p>
            <a:pPr algn="l">
              <a:lnSpc>
                <a:spcPct val="115000"/>
              </a:lnSpc>
              <a:spcAft>
                <a:spcPts val="400"/>
              </a:spcAft>
            </a:pPr>
            <a:r>
              <a:rPr sz="1800" b="1" i="0">
                <a:solidFill>
                  <a:srgbClr val="475569"/>
                </a:solidFill>
                <a:latin typeface="Segoe UI"/>
              </a:rPr>
              <a:t>NGƯỠNG CỨNG</a:t>
            </a:r>
          </a:p>
          <a:p>
            <a:pPr algn="l">
              <a:lnSpc>
                <a:spcPct val="115000"/>
              </a:lnSpc>
              <a:spcAft>
                <a:spcPts val="400"/>
              </a:spcAft>
            </a:pPr>
            <a:r>
              <a:rPr sz="2300" b="1" i="0">
                <a:solidFill>
                  <a:srgbClr val="15803D"/>
                </a:solidFill>
                <a:latin typeface="Segoe UI"/>
              </a:rPr>
              <a:t>Kết luận:  bình thường</a:t>
            </a:r>
          </a:p>
          <a:p>
            <a:pPr algn="l">
              <a:lnSpc>
                <a:spcPct val="115000"/>
              </a:lnSpc>
              <a:spcAft>
                <a:spcPts val="400"/>
              </a:spcAft>
            </a:pPr>
            <a:r>
              <a:rPr sz="1600" b="0" i="0">
                <a:solidFill>
                  <a:srgbClr val="475569"/>
                </a:solidFill>
                <a:latin typeface="Segoe UI"/>
              </a:rPr>
              <a:t>Không cell nào gần 60 °C.</a:t>
            </a:r>
          </a:p>
        </p:txBody>
      </p:sp>
      <p:sp>
        <p:nvSpPr>
          <p:cNvPr id="9" name="Rounded Rectangle 8"/>
          <p:cNvSpPr/>
          <p:nvPr/>
        </p:nvSpPr>
        <p:spPr>
          <a:xfrm>
            <a:off x="6949440" y="3794760"/>
            <a:ext cx="4572000" cy="1645920"/>
          </a:xfrm>
          <a:prstGeom prst="roundRect">
            <a:avLst>
              <a:gd name="adj" fmla="val 6000"/>
            </a:avLst>
          </a:prstGeom>
          <a:solidFill>
            <a:srgbClr val="E2E8F0"/>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80" y="3794760"/>
            <a:ext cx="4023360" cy="1645920"/>
          </a:xfrm>
          <a:prstGeom prst="rect">
            <a:avLst/>
          </a:prstGeom>
          <a:noFill/>
        </p:spPr>
        <p:txBody>
          <a:bodyPr wrap="square" anchor="ctr" lIns="0" rIns="0" tIns="0" bIns="0">
            <a:spAutoFit/>
          </a:bodyPr>
          <a:lstStyle/>
          <a:p>
            <a:pPr algn="l">
              <a:lnSpc>
                <a:spcPct val="115000"/>
              </a:lnSpc>
              <a:spcAft>
                <a:spcPts val="400"/>
              </a:spcAft>
            </a:pPr>
            <a:r>
              <a:rPr sz="1800" b="1" i="0">
                <a:solidFill>
                  <a:srgbClr val="B45309"/>
                </a:solidFill>
                <a:latin typeface="Segoe UI"/>
              </a:rPr>
              <a:t>EDGE AI CỦA ĐỘI</a:t>
            </a:r>
          </a:p>
          <a:p>
            <a:pPr algn="l">
              <a:lnSpc>
                <a:spcPct val="115000"/>
              </a:lnSpc>
              <a:spcAft>
                <a:spcPts val="400"/>
              </a:spcAft>
            </a:pPr>
            <a:r>
              <a:rPr sz="2300" b="1" i="0">
                <a:solidFill>
                  <a:srgbClr val="B91C1C"/>
                </a:solidFill>
                <a:latin typeface="Segoe UI"/>
              </a:rPr>
              <a:t>Kết luận:  cell bất thường</a:t>
            </a:r>
          </a:p>
          <a:p>
            <a:pPr algn="l">
              <a:lnSpc>
                <a:spcPct val="115000"/>
              </a:lnSpc>
              <a:spcAft>
                <a:spcPts val="400"/>
              </a:spcAft>
            </a:pPr>
            <a:r>
              <a:rPr sz="1600" b="0" i="0">
                <a:solidFill>
                  <a:srgbClr val="475569"/>
                </a:solidFill>
                <a:latin typeface="Segoe UI"/>
              </a:rPr>
              <a:t>Cell #3 nóng hơn phần còn lại 4 °C, cùng một tải.</a:t>
            </a:r>
          </a:p>
        </p:txBody>
      </p:sp>
      <p:sp>
        <p:nvSpPr>
          <p:cNvPr id="11" name="TextBox 10"/>
          <p:cNvSpPr txBox="1"/>
          <p:nvPr/>
        </p:nvSpPr>
        <p:spPr>
          <a:xfrm>
            <a:off x="6949440" y="5760720"/>
            <a:ext cx="4572000" cy="640080"/>
          </a:xfrm>
          <a:prstGeom prst="rect">
            <a:avLst/>
          </a:prstGeom>
          <a:noFill/>
        </p:spPr>
        <p:txBody>
          <a:bodyPr wrap="square" anchor="t" lIns="0" rIns="0" tIns="0" bIns="0">
            <a:spAutoFit/>
          </a:bodyPr>
          <a:lstStyle/>
          <a:p>
            <a:pPr algn="l">
              <a:lnSpc>
                <a:spcPct val="115000"/>
              </a:lnSpc>
              <a:spcAft>
                <a:spcPts val="800"/>
              </a:spcAft>
            </a:pPr>
            <a:r>
              <a:rPr sz="1800" b="1" i="0">
                <a:solidFill>
                  <a:srgbClr val="0F172A"/>
                </a:solidFill>
                <a:latin typeface="Segoe UI"/>
              </a:rPr>
              <a:t>Mô hình đọc quan hệ giữa các cell — không đọc con số tuyệt đối.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ells.jpg"/>
          <p:cNvPicPr>
            <a:picLocks noChangeAspect="1"/>
          </p:cNvPicPr>
          <p:nvPr/>
        </p:nvPicPr>
        <p:blipFill>
          <a:blip r:embed="rId2"/>
          <a:srcRect l="22965" r="22965"/>
          <a:stretch>
            <a:fillRect/>
          </a:stretch>
        </p:blipFill>
        <p:spPr>
          <a:xfrm>
            <a:off x="8686800" y="1737360"/>
            <a:ext cx="2834640" cy="3931920"/>
          </a:xfrm>
          <a:prstGeom prst="rect">
            <a:avLst/>
          </a:prstGeom>
        </p:spPr>
      </p:pic>
      <p:sp>
        <p:nvSpPr>
          <p:cNvPr id="4" name="TextBox 3"/>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Giải pháp của đội</a:t>
            </a:r>
          </a:p>
        </p:txBody>
      </p:sp>
      <p:sp>
        <p:nvSpPr>
          <p:cNvPr id="5" name="Rectangle 4"/>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37360"/>
            <a:ext cx="7680960" cy="822960"/>
          </a:xfrm>
          <a:prstGeom prst="rect">
            <a:avLst/>
          </a:prstGeom>
          <a:noFill/>
        </p:spPr>
        <p:txBody>
          <a:bodyPr wrap="square" anchor="t" lIns="0" rIns="0" tIns="0" bIns="0">
            <a:spAutoFit/>
          </a:bodyPr>
          <a:lstStyle/>
          <a:p>
            <a:pPr algn="l">
              <a:lnSpc>
                <a:spcPct val="115000"/>
              </a:lnSpc>
              <a:spcAft>
                <a:spcPts val="800"/>
              </a:spcAft>
            </a:pPr>
            <a:r>
              <a:rPr sz="2500" b="1" i="0">
                <a:solidFill>
                  <a:srgbClr val="B45309"/>
                </a:solidFill>
                <a:latin typeface="Segoe UI"/>
              </a:rPr>
              <a:t>Một module giá thấp, theo dõi từng cell và tự suy luận ngay trên thiết bị.</a:t>
            </a:r>
          </a:p>
        </p:txBody>
      </p:sp>
      <p:sp>
        <p:nvSpPr>
          <p:cNvPr id="7" name="Rounded Rectangle 6"/>
          <p:cNvSpPr/>
          <p:nvPr/>
        </p:nvSpPr>
        <p:spPr>
          <a:xfrm>
            <a:off x="685800" y="2743200"/>
            <a:ext cx="7680960" cy="91440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743200"/>
            <a:ext cx="457200" cy="914400"/>
          </a:xfrm>
          <a:prstGeom prst="rect">
            <a:avLst/>
          </a:prstGeom>
          <a:noFill/>
        </p:spPr>
        <p:txBody>
          <a:bodyPr wrap="square" anchor="ctr" lIns="0" rIns="0" tIns="0" bIns="0">
            <a:spAutoFit/>
          </a:bodyPr>
          <a:lstStyle/>
          <a:p>
            <a:pPr algn="l">
              <a:lnSpc>
                <a:spcPct val="115000"/>
              </a:lnSpc>
              <a:spcAft>
                <a:spcPts val="800"/>
              </a:spcAft>
            </a:pPr>
            <a:r>
              <a:rPr sz="2400" b="1" i="0">
                <a:solidFill>
                  <a:srgbClr val="B45309"/>
                </a:solidFill>
                <a:latin typeface="Segoe UI"/>
              </a:rPr>
              <a:t>1</a:t>
            </a:r>
          </a:p>
        </p:txBody>
      </p:sp>
      <p:sp>
        <p:nvSpPr>
          <p:cNvPr id="9" name="TextBox 8"/>
          <p:cNvSpPr txBox="1"/>
          <p:nvPr/>
        </p:nvSpPr>
        <p:spPr>
          <a:xfrm>
            <a:off x="1463040" y="2743200"/>
            <a:ext cx="1737360" cy="914400"/>
          </a:xfrm>
          <a:prstGeom prst="rect">
            <a:avLst/>
          </a:prstGeom>
          <a:noFill/>
        </p:spPr>
        <p:txBody>
          <a:bodyPr wrap="square" anchor="ctr" lIns="0" rIns="0" tIns="0" bIns="0">
            <a:spAutoFit/>
          </a:bodyPr>
          <a:lstStyle/>
          <a:p>
            <a:pPr algn="l">
              <a:lnSpc>
                <a:spcPct val="115000"/>
              </a:lnSpc>
              <a:spcAft>
                <a:spcPts val="800"/>
              </a:spcAft>
            </a:pPr>
            <a:r>
              <a:rPr sz="1900" b="1" i="0">
                <a:solidFill>
                  <a:srgbClr val="0F172A"/>
                </a:solidFill>
                <a:latin typeface="Segoe UI"/>
              </a:rPr>
              <a:t>PHÁT HIỆN</a:t>
            </a:r>
          </a:p>
        </p:txBody>
      </p:sp>
      <p:sp>
        <p:nvSpPr>
          <p:cNvPr id="10" name="TextBox 9"/>
          <p:cNvSpPr txBox="1"/>
          <p:nvPr/>
        </p:nvSpPr>
        <p:spPr>
          <a:xfrm>
            <a:off x="3291840" y="2743200"/>
            <a:ext cx="4846320" cy="914400"/>
          </a:xfrm>
          <a:prstGeom prst="rect">
            <a:avLst/>
          </a:prstGeom>
          <a:noFill/>
        </p:spPr>
        <p:txBody>
          <a:bodyPr wrap="square" anchor="ctr" lIns="0" rIns="0" tIns="0" bIns="0">
            <a:spAutoFit/>
          </a:bodyPr>
          <a:lstStyle/>
          <a:p>
            <a:pPr algn="l">
              <a:lnSpc>
                <a:spcPct val="115000"/>
              </a:lnSpc>
              <a:spcAft>
                <a:spcPts val="800"/>
              </a:spcAft>
            </a:pPr>
            <a:r>
              <a:rPr sz="1600" b="0" i="0">
                <a:solidFill>
                  <a:srgbClr val="475569"/>
                </a:solidFill>
                <a:latin typeface="Segoe UI"/>
              </a:rPr>
              <a:t>Autoencoder chạy trên ESP32-S3, mỗi giây chỉ ra cell bất thường. Không cần cloud.</a:t>
            </a:r>
          </a:p>
        </p:txBody>
      </p:sp>
      <p:sp>
        <p:nvSpPr>
          <p:cNvPr id="11" name="Rounded Rectangle 10"/>
          <p:cNvSpPr/>
          <p:nvPr/>
        </p:nvSpPr>
        <p:spPr>
          <a:xfrm>
            <a:off x="685800" y="3749040"/>
            <a:ext cx="7680960" cy="91440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749040"/>
            <a:ext cx="457200" cy="914400"/>
          </a:xfrm>
          <a:prstGeom prst="rect">
            <a:avLst/>
          </a:prstGeom>
          <a:noFill/>
        </p:spPr>
        <p:txBody>
          <a:bodyPr wrap="square" anchor="ctr" lIns="0" rIns="0" tIns="0" bIns="0">
            <a:spAutoFit/>
          </a:bodyPr>
          <a:lstStyle/>
          <a:p>
            <a:pPr algn="l">
              <a:lnSpc>
                <a:spcPct val="115000"/>
              </a:lnSpc>
              <a:spcAft>
                <a:spcPts val="800"/>
              </a:spcAft>
            </a:pPr>
            <a:r>
              <a:rPr sz="2400" b="1" i="0">
                <a:solidFill>
                  <a:srgbClr val="B45309"/>
                </a:solidFill>
                <a:latin typeface="Segoe UI"/>
              </a:rPr>
              <a:t>2</a:t>
            </a:r>
          </a:p>
        </p:txBody>
      </p:sp>
      <p:sp>
        <p:nvSpPr>
          <p:cNvPr id="13" name="TextBox 12"/>
          <p:cNvSpPr txBox="1"/>
          <p:nvPr/>
        </p:nvSpPr>
        <p:spPr>
          <a:xfrm>
            <a:off x="1463040" y="3749040"/>
            <a:ext cx="1737360" cy="914400"/>
          </a:xfrm>
          <a:prstGeom prst="rect">
            <a:avLst/>
          </a:prstGeom>
          <a:noFill/>
        </p:spPr>
        <p:txBody>
          <a:bodyPr wrap="square" anchor="ctr" lIns="0" rIns="0" tIns="0" bIns="0">
            <a:spAutoFit/>
          </a:bodyPr>
          <a:lstStyle/>
          <a:p>
            <a:pPr algn="l">
              <a:lnSpc>
                <a:spcPct val="115000"/>
              </a:lnSpc>
              <a:spcAft>
                <a:spcPts val="800"/>
              </a:spcAft>
            </a:pPr>
            <a:r>
              <a:rPr sz="1900" b="1" i="0">
                <a:solidFill>
                  <a:srgbClr val="0F172A"/>
                </a:solidFill>
                <a:latin typeface="Segoe UI"/>
              </a:rPr>
              <a:t>DỰ BÁO</a:t>
            </a:r>
          </a:p>
        </p:txBody>
      </p:sp>
      <p:sp>
        <p:nvSpPr>
          <p:cNvPr id="14" name="TextBox 13"/>
          <p:cNvSpPr txBox="1"/>
          <p:nvPr/>
        </p:nvSpPr>
        <p:spPr>
          <a:xfrm>
            <a:off x="3291840" y="3749040"/>
            <a:ext cx="4846320" cy="914400"/>
          </a:xfrm>
          <a:prstGeom prst="rect">
            <a:avLst/>
          </a:prstGeom>
          <a:noFill/>
        </p:spPr>
        <p:txBody>
          <a:bodyPr wrap="square" anchor="ctr" lIns="0" rIns="0" tIns="0" bIns="0">
            <a:spAutoFit/>
          </a:bodyPr>
          <a:lstStyle/>
          <a:p>
            <a:pPr algn="l">
              <a:lnSpc>
                <a:spcPct val="115000"/>
              </a:lnSpc>
              <a:spcAft>
                <a:spcPts val="800"/>
              </a:spcAft>
            </a:pPr>
            <a:r>
              <a:rPr sz="1600" b="0" i="0">
                <a:solidFill>
                  <a:srgbClr val="475569"/>
                </a:solidFill>
                <a:latin typeface="Segoe UI"/>
              </a:rPr>
              <a:t>Mô hình trên cloud đọc đường sạc, báo sức khoẻ pin và tuổi thọ còn lại.</a:t>
            </a:r>
          </a:p>
        </p:txBody>
      </p:sp>
      <p:sp>
        <p:nvSpPr>
          <p:cNvPr id="15" name="Rounded Rectangle 14"/>
          <p:cNvSpPr/>
          <p:nvPr/>
        </p:nvSpPr>
        <p:spPr>
          <a:xfrm>
            <a:off x="685800" y="4754880"/>
            <a:ext cx="7680960" cy="91440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754880"/>
            <a:ext cx="457200" cy="914400"/>
          </a:xfrm>
          <a:prstGeom prst="rect">
            <a:avLst/>
          </a:prstGeom>
          <a:noFill/>
        </p:spPr>
        <p:txBody>
          <a:bodyPr wrap="square" anchor="ctr" lIns="0" rIns="0" tIns="0" bIns="0">
            <a:spAutoFit/>
          </a:bodyPr>
          <a:lstStyle/>
          <a:p>
            <a:pPr algn="l">
              <a:lnSpc>
                <a:spcPct val="115000"/>
              </a:lnSpc>
              <a:spcAft>
                <a:spcPts val="800"/>
              </a:spcAft>
            </a:pPr>
            <a:r>
              <a:rPr sz="2400" b="1" i="0">
                <a:solidFill>
                  <a:srgbClr val="B45309"/>
                </a:solidFill>
                <a:latin typeface="Segoe UI"/>
              </a:rPr>
              <a:t>3</a:t>
            </a:r>
          </a:p>
        </p:txBody>
      </p:sp>
      <p:sp>
        <p:nvSpPr>
          <p:cNvPr id="17" name="TextBox 16"/>
          <p:cNvSpPr txBox="1"/>
          <p:nvPr/>
        </p:nvSpPr>
        <p:spPr>
          <a:xfrm>
            <a:off x="1463040" y="4754880"/>
            <a:ext cx="1737360" cy="914400"/>
          </a:xfrm>
          <a:prstGeom prst="rect">
            <a:avLst/>
          </a:prstGeom>
          <a:noFill/>
        </p:spPr>
        <p:txBody>
          <a:bodyPr wrap="square" anchor="ctr" lIns="0" rIns="0" tIns="0" bIns="0">
            <a:spAutoFit/>
          </a:bodyPr>
          <a:lstStyle/>
          <a:p>
            <a:pPr algn="l">
              <a:lnSpc>
                <a:spcPct val="115000"/>
              </a:lnSpc>
              <a:spcAft>
                <a:spcPts val="800"/>
              </a:spcAft>
            </a:pPr>
            <a:r>
              <a:rPr sz="1900" b="1" i="0">
                <a:solidFill>
                  <a:srgbClr val="0F172A"/>
                </a:solidFill>
                <a:latin typeface="Segoe UI"/>
              </a:rPr>
              <a:t>HÀNH ĐỘNG</a:t>
            </a:r>
          </a:p>
        </p:txBody>
      </p:sp>
      <p:sp>
        <p:nvSpPr>
          <p:cNvPr id="18" name="TextBox 17"/>
          <p:cNvSpPr txBox="1"/>
          <p:nvPr/>
        </p:nvSpPr>
        <p:spPr>
          <a:xfrm>
            <a:off x="3291840" y="4754880"/>
            <a:ext cx="4846320" cy="914400"/>
          </a:xfrm>
          <a:prstGeom prst="rect">
            <a:avLst/>
          </a:prstGeom>
          <a:noFill/>
        </p:spPr>
        <p:txBody>
          <a:bodyPr wrap="square" anchor="ctr" lIns="0" rIns="0" tIns="0" bIns="0">
            <a:spAutoFit/>
          </a:bodyPr>
          <a:lstStyle/>
          <a:p>
            <a:pPr algn="l">
              <a:lnSpc>
                <a:spcPct val="115000"/>
              </a:lnSpc>
              <a:spcAft>
                <a:spcPts val="800"/>
              </a:spcAft>
            </a:pPr>
            <a:r>
              <a:rPr sz="1600" b="0" i="0">
                <a:solidFill>
                  <a:srgbClr val="475569"/>
                </a:solidFill>
                <a:latin typeface="Segoe UI"/>
              </a:rPr>
              <a:t>Báo động tại chỗ 4 mức: còi và đèn vẫn kêu khi mất mạng hoàn toàn.</a:t>
            </a:r>
          </a:p>
        </p:txBody>
      </p:sp>
      <p:sp>
        <p:nvSpPr>
          <p:cNvPr id="19" name="TextBox 18"/>
          <p:cNvSpPr txBox="1"/>
          <p:nvPr/>
        </p:nvSpPr>
        <p:spPr>
          <a:xfrm>
            <a:off x="685800" y="6355080"/>
            <a:ext cx="5852160" cy="411480"/>
          </a:xfrm>
          <a:prstGeom prst="rect">
            <a:avLst/>
          </a:prstGeom>
          <a:noFill/>
        </p:spPr>
        <p:txBody>
          <a:bodyPr wrap="square" anchor="t" lIns="0" rIns="0" tIns="0" bIns="0">
            <a:spAutoFit/>
          </a:bodyPr>
          <a:lstStyle/>
          <a:p>
            <a:pPr algn="l">
              <a:lnSpc>
                <a:spcPct val="110000"/>
              </a:lnSpc>
              <a:spcAft>
                <a:spcPts val="800"/>
              </a:spcAft>
            </a:pPr>
            <a:r>
              <a:rPr sz="1000" b="0" i="0">
                <a:solidFill>
                  <a:srgbClr val="64748B"/>
                </a:solidFill>
                <a:latin typeface="Segoe UI"/>
              </a:rPr>
              <a:t>Ảnh: cell 18650 / 21700 — Wikimedia Commons, CC0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Kiến trúc hệ thống</a:t>
            </a:r>
          </a:p>
        </p:txBody>
      </p:sp>
      <p:sp>
        <p:nvSpPr>
          <p:cNvPr id="4" name="Rectangle 3"/>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10881360" cy="457200"/>
          </a:xfrm>
          <a:prstGeom prst="rect">
            <a:avLst/>
          </a:prstGeom>
          <a:noFill/>
        </p:spPr>
        <p:txBody>
          <a:bodyPr wrap="square" anchor="t" lIns="0" rIns="0" tIns="0" bIns="0">
            <a:spAutoFit/>
          </a:bodyPr>
          <a:lstStyle/>
          <a:p>
            <a:pPr algn="l">
              <a:lnSpc>
                <a:spcPct val="115000"/>
              </a:lnSpc>
              <a:spcAft>
                <a:spcPts val="800"/>
              </a:spcAft>
            </a:pPr>
            <a:r>
              <a:rPr sz="2000" b="0" i="0">
                <a:solidFill>
                  <a:srgbClr val="475569"/>
                </a:solidFill>
                <a:latin typeface="Segoe UI"/>
              </a:rPr>
              <a:t>Hai lớp AI, chia theo việc câu trả lời cần nhanh tới mức nào.</a:t>
            </a:r>
          </a:p>
        </p:txBody>
      </p:sp>
      <p:sp>
        <p:nvSpPr>
          <p:cNvPr id="6" name="Rounded Rectangle 5"/>
          <p:cNvSpPr/>
          <p:nvPr/>
        </p:nvSpPr>
        <p:spPr>
          <a:xfrm>
            <a:off x="640080" y="2103120"/>
            <a:ext cx="2377440" cy="137160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03120"/>
            <a:ext cx="2194560" cy="1371600"/>
          </a:xfrm>
          <a:prstGeom prst="rect">
            <a:avLst/>
          </a:prstGeom>
          <a:noFill/>
        </p:spPr>
        <p:txBody>
          <a:bodyPr wrap="square" anchor="ctr" lIns="0" rIns="0" tIns="0" bIns="0">
            <a:spAutoFit/>
          </a:bodyPr>
          <a:lstStyle/>
          <a:p>
            <a:pPr algn="ctr">
              <a:lnSpc>
                <a:spcPct val="115000"/>
              </a:lnSpc>
              <a:spcAft>
                <a:spcPts val="200"/>
              </a:spcAft>
            </a:pPr>
            <a:r>
              <a:rPr sz="1800" b="1" i="0">
                <a:solidFill>
                  <a:srgbClr val="0F172A"/>
                </a:solidFill>
                <a:latin typeface="Segoe UI"/>
              </a:rPr>
              <a:t>Pack thí nghiệm 6 cell</a:t>
            </a:r>
          </a:p>
          <a:p>
            <a:pPr algn="ctr">
              <a:lnSpc>
                <a:spcPct val="115000"/>
              </a:lnSpc>
              <a:spcAft>
                <a:spcPts val="200"/>
              </a:spcAft>
            </a:pPr>
            <a:r>
              <a:rPr sz="1500" b="0" i="0">
                <a:solidFill>
                  <a:srgbClr val="475569"/>
                </a:solidFill>
                <a:latin typeface="Segoe UI"/>
              </a:rPr>
              <a:t>6 × DS18B20  ·  INA228</a:t>
            </a:r>
          </a:p>
          <a:p>
            <a:pPr algn="ctr">
              <a:lnSpc>
                <a:spcPct val="115000"/>
              </a:lnSpc>
              <a:spcAft>
                <a:spcPts val="200"/>
              </a:spcAft>
            </a:pPr>
            <a:r>
              <a:rPr sz="1500" b="0" i="0">
                <a:solidFill>
                  <a:srgbClr val="475569"/>
                </a:solidFill>
                <a:latin typeface="Segoe UI"/>
              </a:rPr>
              <a:t>1 mẫu / giây</a:t>
            </a:r>
          </a:p>
        </p:txBody>
      </p:sp>
      <p:sp>
        <p:nvSpPr>
          <p:cNvPr id="8" name="Rounded Rectangle 7"/>
          <p:cNvSpPr/>
          <p:nvPr/>
        </p:nvSpPr>
        <p:spPr>
          <a:xfrm>
            <a:off x="3611880" y="2103120"/>
            <a:ext cx="2834640" cy="1371600"/>
          </a:xfrm>
          <a:prstGeom prst="roundRect">
            <a:avLst>
              <a:gd name="adj" fmla="val 6000"/>
            </a:avLst>
          </a:prstGeom>
          <a:solidFill>
            <a:srgbClr val="E2E8F0"/>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2103120"/>
            <a:ext cx="2651760" cy="1371600"/>
          </a:xfrm>
          <a:prstGeom prst="rect">
            <a:avLst/>
          </a:prstGeom>
          <a:noFill/>
        </p:spPr>
        <p:txBody>
          <a:bodyPr wrap="square" anchor="ctr" lIns="0" rIns="0" tIns="0" bIns="0">
            <a:spAutoFit/>
          </a:bodyPr>
          <a:lstStyle/>
          <a:p>
            <a:pPr algn="ctr">
              <a:lnSpc>
                <a:spcPct val="115000"/>
              </a:lnSpc>
              <a:spcAft>
                <a:spcPts val="200"/>
              </a:spcAft>
            </a:pPr>
            <a:r>
              <a:rPr sz="1800" b="1" i="0">
                <a:solidFill>
                  <a:srgbClr val="0F172A"/>
                </a:solidFill>
                <a:latin typeface="Segoe UI"/>
              </a:rPr>
              <a:t>ESP32-S3</a:t>
            </a:r>
          </a:p>
          <a:p>
            <a:pPr algn="ctr">
              <a:lnSpc>
                <a:spcPct val="115000"/>
              </a:lnSpc>
              <a:spcAft>
                <a:spcPts val="200"/>
              </a:spcAft>
            </a:pPr>
            <a:r>
              <a:rPr sz="1500" b="0" i="0">
                <a:solidFill>
                  <a:srgbClr val="475569"/>
                </a:solidFill>
                <a:latin typeface="Segoe UI"/>
              </a:rPr>
              <a:t>LỚP 1 — autoencoder</a:t>
            </a:r>
          </a:p>
          <a:p>
            <a:pPr algn="ctr">
              <a:lnSpc>
                <a:spcPct val="115000"/>
              </a:lnSpc>
              <a:spcAft>
                <a:spcPts val="200"/>
              </a:spcAft>
            </a:pPr>
            <a:r>
              <a:rPr sz="1500" b="0" i="0">
                <a:solidFill>
                  <a:srgbClr val="475569"/>
                </a:solidFill>
                <a:latin typeface="Segoe UI"/>
              </a:rPr>
              <a:t>chạy trên thiết bị, mỗi giây</a:t>
            </a:r>
          </a:p>
        </p:txBody>
      </p:sp>
      <p:sp>
        <p:nvSpPr>
          <p:cNvPr id="10" name="Rounded Rectangle 9"/>
          <p:cNvSpPr/>
          <p:nvPr/>
        </p:nvSpPr>
        <p:spPr>
          <a:xfrm>
            <a:off x="7040880" y="2103120"/>
            <a:ext cx="2468880" cy="137160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0" y="2103120"/>
            <a:ext cx="2286000" cy="1371600"/>
          </a:xfrm>
          <a:prstGeom prst="rect">
            <a:avLst/>
          </a:prstGeom>
          <a:noFill/>
        </p:spPr>
        <p:txBody>
          <a:bodyPr wrap="square" anchor="ctr" lIns="0" rIns="0" tIns="0" bIns="0">
            <a:spAutoFit/>
          </a:bodyPr>
          <a:lstStyle/>
          <a:p>
            <a:pPr algn="ctr">
              <a:lnSpc>
                <a:spcPct val="115000"/>
              </a:lnSpc>
              <a:spcAft>
                <a:spcPts val="200"/>
              </a:spcAft>
            </a:pPr>
            <a:r>
              <a:rPr sz="1800" b="1" i="0">
                <a:solidFill>
                  <a:srgbClr val="0F172A"/>
                </a:solidFill>
                <a:latin typeface="Segoe UI"/>
              </a:rPr>
              <a:t>MQTT / WISE-PaaS</a:t>
            </a:r>
          </a:p>
          <a:p>
            <a:pPr algn="ctr">
              <a:lnSpc>
                <a:spcPct val="115000"/>
              </a:lnSpc>
              <a:spcAft>
                <a:spcPts val="200"/>
              </a:spcAft>
            </a:pPr>
            <a:r>
              <a:rPr sz="1500" b="0" i="0">
                <a:solidFill>
                  <a:srgbClr val="475569"/>
                </a:solidFill>
                <a:latin typeface="Segoe UI"/>
              </a:rPr>
              <a:t>/wisepaas/scada/{nodeId}/data</a:t>
            </a:r>
          </a:p>
        </p:txBody>
      </p:sp>
      <p:sp>
        <p:nvSpPr>
          <p:cNvPr id="12" name="Rounded Rectangle 11"/>
          <p:cNvSpPr/>
          <p:nvPr/>
        </p:nvSpPr>
        <p:spPr>
          <a:xfrm>
            <a:off x="10012680" y="2103120"/>
            <a:ext cx="1554480" cy="1371600"/>
          </a:xfrm>
          <a:prstGeom prst="roundRect">
            <a:avLst>
              <a:gd name="adj" fmla="val 6000"/>
            </a:avLst>
          </a:prstGeom>
          <a:solidFill>
            <a:srgbClr val="E2E8F0"/>
          </a:solidFill>
          <a:ln w="1905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04120" y="2103120"/>
            <a:ext cx="1371600" cy="1371600"/>
          </a:xfrm>
          <a:prstGeom prst="rect">
            <a:avLst/>
          </a:prstGeom>
          <a:noFill/>
        </p:spPr>
        <p:txBody>
          <a:bodyPr wrap="square" anchor="ctr" lIns="0" rIns="0" tIns="0" bIns="0">
            <a:spAutoFit/>
          </a:bodyPr>
          <a:lstStyle/>
          <a:p>
            <a:pPr algn="ctr">
              <a:lnSpc>
                <a:spcPct val="115000"/>
              </a:lnSpc>
              <a:spcAft>
                <a:spcPts val="200"/>
              </a:spcAft>
            </a:pPr>
            <a:r>
              <a:rPr sz="1800" b="1" i="0">
                <a:solidFill>
                  <a:srgbClr val="0F172A"/>
                </a:solidFill>
                <a:latin typeface="Segoe UI"/>
              </a:rPr>
              <a:t>Cloud</a:t>
            </a:r>
          </a:p>
          <a:p>
            <a:pPr algn="ctr">
              <a:lnSpc>
                <a:spcPct val="115000"/>
              </a:lnSpc>
              <a:spcAft>
                <a:spcPts val="200"/>
              </a:spcAft>
            </a:pPr>
            <a:r>
              <a:rPr sz="1300" b="0" i="0">
                <a:solidFill>
                  <a:srgbClr val="475569"/>
                </a:solidFill>
                <a:latin typeface="Segoe UI"/>
              </a:rPr>
              <a:t>LỚP 2</a:t>
            </a:r>
          </a:p>
          <a:p>
            <a:pPr algn="ctr">
              <a:lnSpc>
                <a:spcPct val="115000"/>
              </a:lnSpc>
              <a:spcAft>
                <a:spcPts val="200"/>
              </a:spcAft>
            </a:pPr>
            <a:r>
              <a:rPr sz="1300" b="0" i="0">
                <a:solidFill>
                  <a:srgbClr val="475569"/>
                </a:solidFill>
                <a:latin typeface="Segoe UI"/>
              </a:rPr>
              <a:t>sức khoẻ / tuổi thọ còn lại</a:t>
            </a:r>
          </a:p>
          <a:p>
            <a:pPr algn="ctr">
              <a:lnSpc>
                <a:spcPct val="115000"/>
              </a:lnSpc>
              <a:spcAft>
                <a:spcPts val="200"/>
              </a:spcAft>
            </a:pPr>
            <a:r>
              <a:rPr sz="1300" b="0" i="0">
                <a:solidFill>
                  <a:srgbClr val="475569"/>
                </a:solidFill>
                <a:latin typeface="Segoe UI"/>
              </a:rPr>
              <a:t>1 lần mỗi chu kỳ sạc</a:t>
            </a:r>
          </a:p>
        </p:txBody>
      </p:sp>
      <p:cxnSp>
        <p:nvCxnSpPr>
          <p:cNvPr id="14" name="Connector 13"/>
          <p:cNvCxnSpPr/>
          <p:nvPr/>
        </p:nvCxnSpPr>
        <p:spPr>
          <a:xfrm>
            <a:off x="3017520" y="2788920"/>
            <a:ext cx="594360" cy="0"/>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46520" y="2788920"/>
            <a:ext cx="594360" cy="0"/>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509760" y="2788920"/>
            <a:ext cx="502920" cy="0"/>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611880" y="4114800"/>
            <a:ext cx="2834640" cy="1051560"/>
          </a:xfrm>
          <a:prstGeom prst="roundRect">
            <a:avLst>
              <a:gd name="adj" fmla="val 6000"/>
            </a:avLst>
          </a:prstGeom>
          <a:solidFill>
            <a:srgbClr val="F1F5F9"/>
          </a:solidFill>
          <a:ln w="1905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03320" y="4114800"/>
            <a:ext cx="2651760" cy="1051560"/>
          </a:xfrm>
          <a:prstGeom prst="rect">
            <a:avLst/>
          </a:prstGeom>
          <a:noFill/>
        </p:spPr>
        <p:txBody>
          <a:bodyPr wrap="square" anchor="ctr" lIns="0" rIns="0" tIns="0" bIns="0">
            <a:spAutoFit/>
          </a:bodyPr>
          <a:lstStyle/>
          <a:p>
            <a:pPr algn="ctr">
              <a:lnSpc>
                <a:spcPct val="115000"/>
              </a:lnSpc>
              <a:spcAft>
                <a:spcPts val="200"/>
              </a:spcAft>
            </a:pPr>
            <a:r>
              <a:rPr sz="1800" b="1" i="0">
                <a:solidFill>
                  <a:srgbClr val="0F172A"/>
                </a:solidFill>
                <a:latin typeface="Segoe UI"/>
              </a:rPr>
              <a:t>BÁO ĐỘNG TẠI CHỖ</a:t>
            </a:r>
          </a:p>
          <a:p>
            <a:pPr algn="ctr">
              <a:lnSpc>
                <a:spcPct val="115000"/>
              </a:lnSpc>
              <a:spcAft>
                <a:spcPts val="200"/>
              </a:spcAft>
            </a:pPr>
            <a:r>
              <a:rPr sz="1500" b="0" i="0">
                <a:solidFill>
                  <a:srgbClr val="475569"/>
                </a:solidFill>
                <a:latin typeface="Segoe UI"/>
              </a:rPr>
              <a:t>còi + LED · chạy khi mất mạng</a:t>
            </a:r>
          </a:p>
        </p:txBody>
      </p:sp>
      <p:cxnSp>
        <p:nvCxnSpPr>
          <p:cNvPr id="19" name="Connector 18"/>
          <p:cNvCxnSpPr/>
          <p:nvPr/>
        </p:nvCxnSpPr>
        <p:spPr>
          <a:xfrm>
            <a:off x="5029200" y="3474720"/>
            <a:ext cx="0" cy="640080"/>
          </a:xfrm>
          <a:prstGeom prst="line">
            <a:avLst/>
          </a:prstGeom>
          <a:ln w="28575">
            <a:solidFill>
              <a:srgbClr val="B91C1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040880" y="4114800"/>
            <a:ext cx="2468880" cy="105156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0" y="4114800"/>
            <a:ext cx="2286000" cy="1051560"/>
          </a:xfrm>
          <a:prstGeom prst="rect">
            <a:avLst/>
          </a:prstGeom>
          <a:noFill/>
        </p:spPr>
        <p:txBody>
          <a:bodyPr wrap="square" anchor="ctr" lIns="0" rIns="0" tIns="0" bIns="0">
            <a:spAutoFit/>
          </a:bodyPr>
          <a:lstStyle/>
          <a:p>
            <a:pPr algn="ctr">
              <a:lnSpc>
                <a:spcPct val="115000"/>
              </a:lnSpc>
              <a:spcAft>
                <a:spcPts val="200"/>
              </a:spcAft>
            </a:pPr>
            <a:r>
              <a:rPr sz="1800" b="1" i="0">
                <a:solidFill>
                  <a:srgbClr val="0F172A"/>
                </a:solidFill>
                <a:latin typeface="Segoe UI"/>
              </a:rPr>
              <a:t>Đệm và gửi bù</a:t>
            </a:r>
          </a:p>
          <a:p>
            <a:pPr algn="ctr">
              <a:lnSpc>
                <a:spcPct val="115000"/>
              </a:lnSpc>
              <a:spcAft>
                <a:spcPts val="200"/>
              </a:spcAft>
            </a:pPr>
            <a:r>
              <a:rPr sz="1500" b="0" i="0">
                <a:solidFill>
                  <a:srgbClr val="475569"/>
                </a:solidFill>
                <a:latin typeface="Segoe UI"/>
              </a:rPr>
              <a:t>lưu vào flash lúc offline</a:t>
            </a:r>
          </a:p>
        </p:txBody>
      </p:sp>
      <p:cxnSp>
        <p:nvCxnSpPr>
          <p:cNvPr id="22" name="Connector 21"/>
          <p:cNvCxnSpPr/>
          <p:nvPr/>
        </p:nvCxnSpPr>
        <p:spPr>
          <a:xfrm>
            <a:off x="8275320" y="3474720"/>
            <a:ext cx="0" cy="640080"/>
          </a:xfrm>
          <a:prstGeom prst="line">
            <a:avLst/>
          </a:prstGeom>
          <a:ln w="22225">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40080" y="5532120"/>
            <a:ext cx="10927080" cy="822960"/>
          </a:xfrm>
          <a:prstGeom prst="roundRect">
            <a:avLst>
              <a:gd name="adj" fmla="val 6000"/>
            </a:avLst>
          </a:prstGeom>
          <a:solidFill>
            <a:srgbClr val="E2E8F0"/>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32120"/>
            <a:ext cx="10424160" cy="822960"/>
          </a:xfrm>
          <a:prstGeom prst="rect">
            <a:avLst/>
          </a:prstGeom>
          <a:noFill/>
        </p:spPr>
        <p:txBody>
          <a:bodyPr wrap="square" anchor="ctr" lIns="0" rIns="0" tIns="0" bIns="0">
            <a:spAutoFit/>
          </a:bodyPr>
          <a:lstStyle/>
          <a:p>
            <a:pPr algn="l">
              <a:lnSpc>
                <a:spcPct val="115000"/>
              </a:lnSpc>
              <a:spcAft>
                <a:spcPts val="800"/>
              </a:spcAft>
            </a:pPr>
            <a:r>
              <a:rPr sz="1900" b="0" i="0">
                <a:solidFill>
                  <a:srgbClr val="0F172A"/>
                </a:solidFill>
                <a:latin typeface="Segoe UI"/>
              </a:rPr>
              <a:t>An toàn không bao giờ phụ thuộc vào mạng. Thiết bị tự phát hiện và tự kêu; cloud chỉ thêm dashboard và phần dự báo dài hạn.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Phần cứng đội đã làm</a:t>
            </a:r>
          </a:p>
        </p:txBody>
      </p:sp>
      <p:sp>
        <p:nvSpPr>
          <p:cNvPr id="4" name="Rectangle 3"/>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10881360" cy="457200"/>
          </a:xfrm>
          <a:prstGeom prst="rect">
            <a:avLst/>
          </a:prstGeom>
          <a:noFill/>
        </p:spPr>
        <p:txBody>
          <a:bodyPr wrap="square" anchor="t" lIns="0" rIns="0" tIns="0" bIns="0">
            <a:spAutoFit/>
          </a:bodyPr>
          <a:lstStyle/>
          <a:p>
            <a:pPr algn="l">
              <a:lnSpc>
                <a:spcPct val="115000"/>
              </a:lnSpc>
              <a:spcAft>
                <a:spcPts val="800"/>
              </a:spcAft>
            </a:pPr>
            <a:r>
              <a:rPr sz="2000" b="0" i="0">
                <a:solidFill>
                  <a:srgbClr val="475569"/>
                </a:solidFill>
                <a:latin typeface="Segoe UI"/>
              </a:rPr>
              <a:t>Pack thí nghiệm 6 cell 18650 — mỗi cell một đầu dò riêng.</a:t>
            </a:r>
          </a:p>
        </p:txBody>
      </p:sp>
      <p:pic>
        <p:nvPicPr>
          <p:cNvPr id="6" name="Picture 5" descr="esp32.jpg"/>
          <p:cNvPicPr>
            <a:picLocks noChangeAspect="1"/>
          </p:cNvPicPr>
          <p:nvPr/>
        </p:nvPicPr>
        <p:blipFill>
          <a:blip r:embed="rId2"/>
          <a:srcRect t="22727" b="22727"/>
          <a:stretch>
            <a:fillRect/>
          </a:stretch>
        </p:blipFill>
        <p:spPr>
          <a:xfrm>
            <a:off x="685800" y="2011680"/>
            <a:ext cx="2514600" cy="1828800"/>
          </a:xfrm>
          <a:prstGeom prst="rect">
            <a:avLst/>
          </a:prstGeom>
        </p:spPr>
      </p:pic>
      <p:sp>
        <p:nvSpPr>
          <p:cNvPr id="7" name="TextBox 6"/>
          <p:cNvSpPr txBox="1"/>
          <p:nvPr/>
        </p:nvSpPr>
        <p:spPr>
          <a:xfrm>
            <a:off x="685800" y="3977639"/>
            <a:ext cx="2560320" cy="914400"/>
          </a:xfrm>
          <a:prstGeom prst="rect">
            <a:avLst/>
          </a:prstGeom>
          <a:noFill/>
        </p:spPr>
        <p:txBody>
          <a:bodyPr wrap="square" anchor="t" lIns="0" rIns="0" tIns="0" bIns="0">
            <a:spAutoFit/>
          </a:bodyPr>
          <a:lstStyle/>
          <a:p>
            <a:pPr algn="l">
              <a:lnSpc>
                <a:spcPct val="120000"/>
              </a:lnSpc>
              <a:spcAft>
                <a:spcPts val="800"/>
              </a:spcAft>
            </a:pPr>
            <a:r>
              <a:rPr sz="1700" b="0" i="0">
                <a:solidFill>
                  <a:srgbClr val="0F172A"/>
                </a:solidFill>
                <a:latin typeface="Segoe UI"/>
              </a:rPr>
              <a:t>ESP32-S3-DevKitC-1
có tập lệnh vector cho ML</a:t>
            </a:r>
          </a:p>
        </p:txBody>
      </p:sp>
      <p:pic>
        <p:nvPicPr>
          <p:cNvPr id="8" name="Picture 7" descr="ds18b20.jpg"/>
          <p:cNvPicPr>
            <a:picLocks noChangeAspect="1"/>
          </p:cNvPicPr>
          <p:nvPr/>
        </p:nvPicPr>
        <p:blipFill>
          <a:blip r:embed="rId3"/>
          <a:srcRect t="13636" b="13636"/>
          <a:stretch>
            <a:fillRect/>
          </a:stretch>
        </p:blipFill>
        <p:spPr>
          <a:xfrm>
            <a:off x="3474720" y="2011680"/>
            <a:ext cx="2514600" cy="1828800"/>
          </a:xfrm>
          <a:prstGeom prst="rect">
            <a:avLst/>
          </a:prstGeom>
        </p:spPr>
      </p:pic>
      <p:sp>
        <p:nvSpPr>
          <p:cNvPr id="9" name="TextBox 8"/>
          <p:cNvSpPr txBox="1"/>
          <p:nvPr/>
        </p:nvSpPr>
        <p:spPr>
          <a:xfrm>
            <a:off x="3474720" y="3977639"/>
            <a:ext cx="2560320" cy="914400"/>
          </a:xfrm>
          <a:prstGeom prst="rect">
            <a:avLst/>
          </a:prstGeom>
          <a:noFill/>
        </p:spPr>
        <p:txBody>
          <a:bodyPr wrap="square" anchor="t" lIns="0" rIns="0" tIns="0" bIns="0">
            <a:spAutoFit/>
          </a:bodyPr>
          <a:lstStyle/>
          <a:p>
            <a:pPr algn="l">
              <a:lnSpc>
                <a:spcPct val="120000"/>
              </a:lnSpc>
              <a:spcAft>
                <a:spcPts val="800"/>
              </a:spcAft>
            </a:pPr>
            <a:r>
              <a:rPr sz="1700" b="0" i="0">
                <a:solidFill>
                  <a:srgbClr val="0F172A"/>
                </a:solidFill>
                <a:latin typeface="Segoe UI"/>
              </a:rPr>
              <a:t>6 × DS18B20
mỗi cell một đầu dò</a:t>
            </a:r>
          </a:p>
        </p:txBody>
      </p:sp>
      <p:pic>
        <p:nvPicPr>
          <p:cNvPr id="10" name="Picture 9" descr="bms6s.jpg"/>
          <p:cNvPicPr>
            <a:picLocks noChangeAspect="1"/>
          </p:cNvPicPr>
          <p:nvPr/>
        </p:nvPicPr>
        <p:blipFill>
          <a:blip r:embed="rId4"/>
          <a:srcRect l="4167" r="4167"/>
          <a:stretch>
            <a:fillRect/>
          </a:stretch>
        </p:blipFill>
        <p:spPr>
          <a:xfrm>
            <a:off x="6263640" y="2011680"/>
            <a:ext cx="2514600" cy="1828800"/>
          </a:xfrm>
          <a:prstGeom prst="rect">
            <a:avLst/>
          </a:prstGeom>
        </p:spPr>
      </p:pic>
      <p:sp>
        <p:nvSpPr>
          <p:cNvPr id="11" name="TextBox 10"/>
          <p:cNvSpPr txBox="1"/>
          <p:nvPr/>
        </p:nvSpPr>
        <p:spPr>
          <a:xfrm>
            <a:off x="6263640" y="3977639"/>
            <a:ext cx="2560320" cy="914400"/>
          </a:xfrm>
          <a:prstGeom prst="rect">
            <a:avLst/>
          </a:prstGeom>
          <a:noFill/>
        </p:spPr>
        <p:txBody>
          <a:bodyPr wrap="square" anchor="t" lIns="0" rIns="0" tIns="0" bIns="0">
            <a:spAutoFit/>
          </a:bodyPr>
          <a:lstStyle/>
          <a:p>
            <a:pPr algn="l">
              <a:lnSpc>
                <a:spcPct val="120000"/>
              </a:lnSpc>
              <a:spcAft>
                <a:spcPts val="800"/>
              </a:spcAft>
            </a:pPr>
            <a:r>
              <a:rPr sz="1700" b="0" i="0">
                <a:solidFill>
                  <a:srgbClr val="0F172A"/>
                </a:solidFill>
                <a:latin typeface="Segoe UI"/>
              </a:rPr>
              <a:t>BMS 6S có cân bằng
chính nó tạo tình huống ngắt</a:t>
            </a:r>
          </a:p>
        </p:txBody>
      </p:sp>
      <p:pic>
        <p:nvPicPr>
          <p:cNvPr id="12" name="Picture 11" descr="cells_charger.jpg"/>
          <p:cNvPicPr>
            <a:picLocks noChangeAspect="1"/>
          </p:cNvPicPr>
          <p:nvPr/>
        </p:nvPicPr>
        <p:blipFill>
          <a:blip r:embed="rId5"/>
          <a:srcRect t="24026" b="24026"/>
          <a:stretch>
            <a:fillRect/>
          </a:stretch>
        </p:blipFill>
        <p:spPr>
          <a:xfrm>
            <a:off x="9052560" y="2011680"/>
            <a:ext cx="2514600" cy="1828800"/>
          </a:xfrm>
          <a:prstGeom prst="rect">
            <a:avLst/>
          </a:prstGeom>
        </p:spPr>
      </p:pic>
      <p:sp>
        <p:nvSpPr>
          <p:cNvPr id="13" name="TextBox 12"/>
          <p:cNvSpPr txBox="1"/>
          <p:nvPr/>
        </p:nvSpPr>
        <p:spPr>
          <a:xfrm>
            <a:off x="9052560" y="3977639"/>
            <a:ext cx="2560320" cy="914400"/>
          </a:xfrm>
          <a:prstGeom prst="rect">
            <a:avLst/>
          </a:prstGeom>
          <a:noFill/>
        </p:spPr>
        <p:txBody>
          <a:bodyPr wrap="square" anchor="t" lIns="0" rIns="0" tIns="0" bIns="0">
            <a:spAutoFit/>
          </a:bodyPr>
          <a:lstStyle/>
          <a:p>
            <a:pPr algn="l">
              <a:lnSpc>
                <a:spcPct val="120000"/>
              </a:lnSpc>
              <a:spcAft>
                <a:spcPts val="800"/>
              </a:spcAft>
            </a:pPr>
            <a:r>
              <a:rPr sz="1700" b="0" i="0">
                <a:solidFill>
                  <a:srgbClr val="0F172A"/>
                </a:solidFill>
                <a:latin typeface="Segoe UI"/>
              </a:rPr>
              <a:t>6 cell 18650 đồng bộ
cùng lô, cùng tuổi</a:t>
            </a:r>
          </a:p>
        </p:txBody>
      </p:sp>
      <p:sp>
        <p:nvSpPr>
          <p:cNvPr id="14" name="Rounded Rectangle 13"/>
          <p:cNvSpPr/>
          <p:nvPr/>
        </p:nvSpPr>
        <p:spPr>
          <a:xfrm>
            <a:off x="685800" y="5166360"/>
            <a:ext cx="10835640" cy="960120"/>
          </a:xfrm>
          <a:prstGeom prst="roundRect">
            <a:avLst>
              <a:gd name="adj" fmla="val 6000"/>
            </a:avLst>
          </a:prstGeom>
          <a:solidFill>
            <a:srgbClr val="E2E8F0"/>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166360"/>
            <a:ext cx="10241280" cy="960120"/>
          </a:xfrm>
          <a:prstGeom prst="rect">
            <a:avLst/>
          </a:prstGeom>
          <a:noFill/>
        </p:spPr>
        <p:txBody>
          <a:bodyPr wrap="square" anchor="ctr" lIns="0" rIns="0" tIns="0" bIns="0">
            <a:spAutoFit/>
          </a:bodyPr>
          <a:lstStyle/>
          <a:p>
            <a:pPr algn="l">
              <a:lnSpc>
                <a:spcPct val="115000"/>
              </a:lnSpc>
              <a:spcAft>
                <a:spcPts val="800"/>
              </a:spcAft>
            </a:pPr>
            <a:r>
              <a:rPr sz="1800" b="0" i="0">
                <a:solidFill>
                  <a:srgbClr val="0F172A"/>
                </a:solidFill>
                <a:latin typeface="Segoe UI"/>
              </a:rPr>
              <a:t>Gây lỗi một cách an toàn: điện trở công suất sứ sưởi một cell. Firmware cắt cứng ở 60 °C. Không cell nào bị lạm dụng.</a:t>
            </a:r>
          </a:p>
        </p:txBody>
      </p:sp>
      <p:sp>
        <p:nvSpPr>
          <p:cNvPr id="16" name="TextBox 15"/>
          <p:cNvSpPr txBox="1"/>
          <p:nvPr/>
        </p:nvSpPr>
        <p:spPr>
          <a:xfrm>
            <a:off x="685800" y="6355080"/>
            <a:ext cx="10881360" cy="411480"/>
          </a:xfrm>
          <a:prstGeom prst="rect">
            <a:avLst/>
          </a:prstGeom>
          <a:noFill/>
        </p:spPr>
        <p:txBody>
          <a:bodyPr wrap="square" anchor="t" lIns="0" rIns="0" tIns="0" bIns="0">
            <a:spAutoFit/>
          </a:bodyPr>
          <a:lstStyle/>
          <a:p>
            <a:pPr algn="l">
              <a:lnSpc>
                <a:spcPct val="110000"/>
              </a:lnSpc>
              <a:spcAft>
                <a:spcPts val="800"/>
              </a:spcAft>
            </a:pPr>
            <a:r>
              <a:rPr sz="1000" b="0" i="0">
                <a:solidFill>
                  <a:srgbClr val="64748B"/>
                </a:solidFill>
                <a:latin typeface="Segoe UI"/>
              </a:rPr>
              <a:t>Ảnh linh kiện: Wikimedia Commons (CC BY-SA 4.0 / CC BY 2.0 / CC0)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Lớp 1 — bộ phát hiện cell bất thường</a:t>
            </a:r>
          </a:p>
        </p:txBody>
      </p:sp>
      <p:sp>
        <p:nvSpPr>
          <p:cNvPr id="4" name="Rectangle 3"/>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10881360" cy="457200"/>
          </a:xfrm>
          <a:prstGeom prst="rect">
            <a:avLst/>
          </a:prstGeom>
          <a:noFill/>
        </p:spPr>
        <p:txBody>
          <a:bodyPr wrap="square" anchor="t" lIns="0" rIns="0" tIns="0" bIns="0">
            <a:spAutoFit/>
          </a:bodyPr>
          <a:lstStyle/>
          <a:p>
            <a:pPr algn="l">
              <a:lnSpc>
                <a:spcPct val="115000"/>
              </a:lnSpc>
              <a:spcAft>
                <a:spcPts val="800"/>
              </a:spcAft>
            </a:pPr>
            <a:r>
              <a:rPr sz="2000" b="0" i="0">
                <a:solidFill>
                  <a:srgbClr val="475569"/>
                </a:solidFill>
                <a:latin typeface="Segoe UI"/>
              </a:rPr>
              <a:t>Chạy ngay trên vi điều khiển, mỗi giây một lần, không cần internet.</a:t>
            </a:r>
          </a:p>
        </p:txBody>
      </p:sp>
      <p:sp>
        <p:nvSpPr>
          <p:cNvPr id="6" name="TextBox 5"/>
          <p:cNvSpPr txBox="1"/>
          <p:nvPr/>
        </p:nvSpPr>
        <p:spPr>
          <a:xfrm>
            <a:off x="685800" y="1965960"/>
            <a:ext cx="5486400" cy="2194560"/>
          </a:xfrm>
          <a:prstGeom prst="rect">
            <a:avLst/>
          </a:prstGeom>
          <a:noFill/>
        </p:spPr>
        <p:txBody>
          <a:bodyPr wrap="square" anchor="t" lIns="0" rIns="0" tIns="0" bIns="0">
            <a:spAutoFit/>
          </a:bodyPr>
          <a:lstStyle/>
          <a:p>
            <a:pPr algn="l">
              <a:lnSpc>
                <a:spcPct val="115000"/>
              </a:lnSpc>
              <a:spcAft>
                <a:spcPts val="600"/>
              </a:spcAft>
            </a:pPr>
            <a:r>
              <a:rPr sz="2200" b="1" i="0">
                <a:solidFill>
                  <a:srgbClr val="B45309"/>
                </a:solidFill>
                <a:latin typeface="Segoe UI"/>
              </a:rPr>
              <a:t>Nó đọc quan hệ, không đọc độ C</a:t>
            </a:r>
          </a:p>
          <a:p>
            <a:pPr algn="l">
              <a:lnSpc>
                <a:spcPct val="115000"/>
              </a:lnSpc>
              <a:spcAft>
                <a:spcPts val="600"/>
              </a:spcAft>
            </a:pPr>
            <a:r>
              <a:rPr sz="600" b="0" i="0">
                <a:solidFill>
                  <a:srgbClr val="0F172A"/>
                </a:solidFill>
                <a:latin typeface="Segoe UI"/>
              </a:rPr>
              <a:t/>
            </a:r>
          </a:p>
          <a:p>
            <a:pPr algn="l">
              <a:lnSpc>
                <a:spcPct val="110000"/>
              </a:lnSpc>
              <a:spcAft>
                <a:spcPts val="600"/>
              </a:spcAft>
            </a:pPr>
            <a:r>
              <a:rPr sz="1800" b="0" i="0">
                <a:solidFill>
                  <a:srgbClr val="0F172A"/>
                </a:solidFill>
                <a:latin typeface="Segoe UI"/>
              </a:rPr>
              <a:t>·  lệch bao nhiêu so với trung bình của pack</a:t>
            </a:r>
          </a:p>
          <a:p>
            <a:pPr algn="l">
              <a:lnSpc>
                <a:spcPct val="110000"/>
              </a:lnSpc>
              <a:spcAft>
                <a:spcPts val="600"/>
              </a:spcAft>
            </a:pPr>
            <a:r>
              <a:rPr sz="1800" b="0" i="0">
                <a:solidFill>
                  <a:srgbClr val="0F172A"/>
                </a:solidFill>
                <a:latin typeface="Segoe UI"/>
              </a:rPr>
              <a:t>·  có nóng lên nhanh hơn các cell khác không</a:t>
            </a:r>
          </a:p>
          <a:p>
            <a:pPr algn="l">
              <a:lnSpc>
                <a:spcPct val="110000"/>
              </a:lnSpc>
              <a:spcAft>
                <a:spcPts val="600"/>
              </a:spcAft>
            </a:pPr>
            <a:r>
              <a:rPr sz="1800" b="0" i="0">
                <a:solidFill>
                  <a:srgbClr val="0F172A"/>
                </a:solidFill>
                <a:latin typeface="Segoe UI"/>
              </a:rPr>
              <a:t>·  lệch từ từ (lão hoá) hay đột ngột (sự cố)</a:t>
            </a:r>
          </a:p>
        </p:txBody>
      </p:sp>
      <p:sp>
        <p:nvSpPr>
          <p:cNvPr id="7" name="TextBox 6"/>
          <p:cNvSpPr txBox="1"/>
          <p:nvPr/>
        </p:nvSpPr>
        <p:spPr>
          <a:xfrm>
            <a:off x="685800" y="4069080"/>
            <a:ext cx="5486400" cy="640080"/>
          </a:xfrm>
          <a:prstGeom prst="rect">
            <a:avLst/>
          </a:prstGeom>
          <a:noFill/>
        </p:spPr>
        <p:txBody>
          <a:bodyPr wrap="square" anchor="t" lIns="0" rIns="0" tIns="0" bIns="0">
            <a:spAutoFit/>
          </a:bodyPr>
          <a:lstStyle/>
          <a:p>
            <a:pPr algn="l">
              <a:lnSpc>
                <a:spcPct val="115000"/>
              </a:lnSpc>
              <a:spcAft>
                <a:spcPts val="800"/>
              </a:spcAft>
            </a:pPr>
            <a:r>
              <a:rPr sz="1600" b="0" i="0">
                <a:solidFill>
                  <a:srgbClr val="475569"/>
                </a:solidFill>
                <a:latin typeface="Segoe UI"/>
              </a:rPr>
              <a:t>Chỉ báo động khi tín hiệu giữ liên tục nửa phút — nhiễu một mình không kích hoạt được.</a:t>
            </a:r>
          </a:p>
        </p:txBody>
      </p:sp>
      <p:sp>
        <p:nvSpPr>
          <p:cNvPr id="8" name="Rounded Rectangle 7"/>
          <p:cNvSpPr/>
          <p:nvPr/>
        </p:nvSpPr>
        <p:spPr>
          <a:xfrm>
            <a:off x="6492240" y="1965960"/>
            <a:ext cx="2377440" cy="1572768"/>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2112264"/>
            <a:ext cx="2103120" cy="731520"/>
          </a:xfrm>
          <a:prstGeom prst="rect">
            <a:avLst/>
          </a:prstGeom>
          <a:noFill/>
        </p:spPr>
        <p:txBody>
          <a:bodyPr wrap="square" anchor="t" lIns="0" rIns="0" tIns="0" bIns="0">
            <a:spAutoFit/>
          </a:bodyPr>
          <a:lstStyle/>
          <a:p>
            <a:pPr algn="ctr">
              <a:lnSpc>
                <a:spcPct val="100000"/>
              </a:lnSpc>
              <a:spcAft>
                <a:spcPts val="800"/>
              </a:spcAft>
            </a:pPr>
            <a:r>
              <a:rPr sz="2400" b="1" i="0">
                <a:solidFill>
                  <a:srgbClr val="B45309"/>
                </a:solidFill>
                <a:latin typeface="Segoe UI"/>
              </a:rPr>
              <a:t>rất nhỏ</a:t>
            </a:r>
          </a:p>
        </p:txBody>
      </p:sp>
      <p:sp>
        <p:nvSpPr>
          <p:cNvPr id="10" name="TextBox 9"/>
          <p:cNvSpPr txBox="1"/>
          <p:nvPr/>
        </p:nvSpPr>
        <p:spPr>
          <a:xfrm>
            <a:off x="6629400" y="2807208"/>
            <a:ext cx="2103120" cy="502920"/>
          </a:xfrm>
          <a:prstGeom prst="rect">
            <a:avLst/>
          </a:prstGeom>
          <a:noFill/>
        </p:spPr>
        <p:txBody>
          <a:bodyPr wrap="square" anchor="t" lIns="0" rIns="0" tIns="0" bIns="0">
            <a:spAutoFit/>
          </a:bodyPr>
          <a:lstStyle/>
          <a:p>
            <a:pPr algn="ctr">
              <a:lnSpc>
                <a:spcPct val="105000"/>
              </a:lnSpc>
              <a:spcAft>
                <a:spcPts val="800"/>
              </a:spcAft>
            </a:pPr>
            <a:r>
              <a:rPr sz="1400" b="0" i="0">
                <a:solidFill>
                  <a:srgbClr val="475569"/>
                </a:solidFill>
                <a:latin typeface="Segoe UI"/>
              </a:rPr>
              <a:t>mô hình gọn
trong ~1 KB flash</a:t>
            </a:r>
          </a:p>
        </p:txBody>
      </p:sp>
      <p:sp>
        <p:nvSpPr>
          <p:cNvPr id="11" name="Rounded Rectangle 10"/>
          <p:cNvSpPr/>
          <p:nvPr/>
        </p:nvSpPr>
        <p:spPr>
          <a:xfrm>
            <a:off x="9098280" y="1965960"/>
            <a:ext cx="2377440" cy="1572768"/>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0" y="2112264"/>
            <a:ext cx="2103120" cy="731520"/>
          </a:xfrm>
          <a:prstGeom prst="rect">
            <a:avLst/>
          </a:prstGeom>
          <a:noFill/>
        </p:spPr>
        <p:txBody>
          <a:bodyPr wrap="square" anchor="t" lIns="0" rIns="0" tIns="0" bIns="0">
            <a:spAutoFit/>
          </a:bodyPr>
          <a:lstStyle/>
          <a:p>
            <a:pPr algn="ctr">
              <a:lnSpc>
                <a:spcPct val="100000"/>
              </a:lnSpc>
              <a:spcAft>
                <a:spcPts val="800"/>
              </a:spcAft>
            </a:pPr>
            <a:r>
              <a:rPr sz="2900" b="1" i="0">
                <a:solidFill>
                  <a:srgbClr val="B45309"/>
                </a:solidFill>
                <a:latin typeface="Segoe UI"/>
              </a:rPr>
              <a:t>1 Hz</a:t>
            </a:r>
          </a:p>
        </p:txBody>
      </p:sp>
      <p:sp>
        <p:nvSpPr>
          <p:cNvPr id="13" name="TextBox 12"/>
          <p:cNvSpPr txBox="1"/>
          <p:nvPr/>
        </p:nvSpPr>
        <p:spPr>
          <a:xfrm>
            <a:off x="9235440" y="2807208"/>
            <a:ext cx="2103120" cy="502920"/>
          </a:xfrm>
          <a:prstGeom prst="rect">
            <a:avLst/>
          </a:prstGeom>
          <a:noFill/>
        </p:spPr>
        <p:txBody>
          <a:bodyPr wrap="square" anchor="t" lIns="0" rIns="0" tIns="0" bIns="0">
            <a:spAutoFit/>
          </a:bodyPr>
          <a:lstStyle/>
          <a:p>
            <a:pPr algn="ctr">
              <a:lnSpc>
                <a:spcPct val="105000"/>
              </a:lnSpc>
              <a:spcAft>
                <a:spcPts val="800"/>
              </a:spcAft>
            </a:pPr>
            <a:r>
              <a:rPr sz="1400" b="0" i="0">
                <a:solidFill>
                  <a:srgbClr val="475569"/>
                </a:solidFill>
                <a:latin typeface="Segoe UI"/>
              </a:rPr>
              <a:t>tần số suy luận
trên thiết bị</a:t>
            </a:r>
          </a:p>
        </p:txBody>
      </p:sp>
      <p:sp>
        <p:nvSpPr>
          <p:cNvPr id="14" name="Rounded Rectangle 13"/>
          <p:cNvSpPr/>
          <p:nvPr/>
        </p:nvSpPr>
        <p:spPr>
          <a:xfrm>
            <a:off x="6492240" y="3703320"/>
            <a:ext cx="2377440" cy="1572768"/>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3849624"/>
            <a:ext cx="2103120" cy="731520"/>
          </a:xfrm>
          <a:prstGeom prst="rect">
            <a:avLst/>
          </a:prstGeom>
          <a:noFill/>
        </p:spPr>
        <p:txBody>
          <a:bodyPr wrap="square" anchor="t" lIns="0" rIns="0" tIns="0" bIns="0">
            <a:spAutoFit/>
          </a:bodyPr>
          <a:lstStyle/>
          <a:p>
            <a:pPr algn="ctr">
              <a:lnSpc>
                <a:spcPct val="100000"/>
              </a:lnSpc>
              <a:spcAft>
                <a:spcPts val="800"/>
              </a:spcAft>
            </a:pPr>
            <a:r>
              <a:rPr sz="2400" b="1" i="0">
                <a:solidFill>
                  <a:srgbClr val="B45309"/>
                </a:solidFill>
                <a:latin typeface="Segoe UI"/>
              </a:rPr>
              <a:t>offline</a:t>
            </a:r>
          </a:p>
        </p:txBody>
      </p:sp>
      <p:sp>
        <p:nvSpPr>
          <p:cNvPr id="16" name="TextBox 15"/>
          <p:cNvSpPr txBox="1"/>
          <p:nvPr/>
        </p:nvSpPr>
        <p:spPr>
          <a:xfrm>
            <a:off x="6629400" y="4544568"/>
            <a:ext cx="2103120" cy="502920"/>
          </a:xfrm>
          <a:prstGeom prst="rect">
            <a:avLst/>
          </a:prstGeom>
          <a:noFill/>
        </p:spPr>
        <p:txBody>
          <a:bodyPr wrap="square" anchor="t" lIns="0" rIns="0" tIns="0" bIns="0">
            <a:spAutoFit/>
          </a:bodyPr>
          <a:lstStyle/>
          <a:p>
            <a:pPr algn="ctr">
              <a:lnSpc>
                <a:spcPct val="105000"/>
              </a:lnSpc>
              <a:spcAft>
                <a:spcPts val="800"/>
              </a:spcAft>
            </a:pPr>
            <a:r>
              <a:rPr sz="1400" b="0" i="0">
                <a:solidFill>
                  <a:srgbClr val="475569"/>
                </a:solidFill>
                <a:latin typeface="Segoe UI"/>
              </a:rPr>
              <a:t>phát hiện
không cần mạng</a:t>
            </a:r>
          </a:p>
        </p:txBody>
      </p:sp>
      <p:sp>
        <p:nvSpPr>
          <p:cNvPr id="17" name="Rounded Rectangle 16"/>
          <p:cNvSpPr/>
          <p:nvPr/>
        </p:nvSpPr>
        <p:spPr>
          <a:xfrm>
            <a:off x="9098280" y="3703320"/>
            <a:ext cx="2377440" cy="1572768"/>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3849624"/>
            <a:ext cx="2103120" cy="731520"/>
          </a:xfrm>
          <a:prstGeom prst="rect">
            <a:avLst/>
          </a:prstGeom>
          <a:noFill/>
        </p:spPr>
        <p:txBody>
          <a:bodyPr wrap="square" anchor="t" lIns="0" rIns="0" tIns="0" bIns="0">
            <a:spAutoFit/>
          </a:bodyPr>
          <a:lstStyle/>
          <a:p>
            <a:pPr algn="ctr">
              <a:lnSpc>
                <a:spcPct val="100000"/>
              </a:lnSpc>
              <a:spcAft>
                <a:spcPts val="800"/>
              </a:spcAft>
            </a:pPr>
            <a:r>
              <a:rPr sz="2900" b="1" i="0">
                <a:solidFill>
                  <a:srgbClr val="B45309"/>
                </a:solidFill>
                <a:latin typeface="Segoe UI"/>
              </a:rPr>
              <a:t>60 °C</a:t>
            </a:r>
          </a:p>
        </p:txBody>
      </p:sp>
      <p:sp>
        <p:nvSpPr>
          <p:cNvPr id="19" name="TextBox 18"/>
          <p:cNvSpPr txBox="1"/>
          <p:nvPr/>
        </p:nvSpPr>
        <p:spPr>
          <a:xfrm>
            <a:off x="9235440" y="4544568"/>
            <a:ext cx="2103120" cy="502920"/>
          </a:xfrm>
          <a:prstGeom prst="rect">
            <a:avLst/>
          </a:prstGeom>
          <a:noFill/>
        </p:spPr>
        <p:txBody>
          <a:bodyPr wrap="square" anchor="t" lIns="0" rIns="0" tIns="0" bIns="0">
            <a:spAutoFit/>
          </a:bodyPr>
          <a:lstStyle/>
          <a:p>
            <a:pPr algn="ctr">
              <a:lnSpc>
                <a:spcPct val="105000"/>
              </a:lnSpc>
              <a:spcAft>
                <a:spcPts val="800"/>
              </a:spcAft>
            </a:pPr>
            <a:r>
              <a:rPr sz="1400" b="0" i="0">
                <a:solidFill>
                  <a:srgbClr val="475569"/>
                </a:solidFill>
                <a:latin typeface="Segoe UI"/>
              </a:rPr>
              <a:t>ngưỡng cứng,
nằm ngoài AI</a:t>
            </a:r>
          </a:p>
        </p:txBody>
      </p:sp>
      <p:sp>
        <p:nvSpPr>
          <p:cNvPr id="20" name="Rounded Rectangle 19"/>
          <p:cNvSpPr/>
          <p:nvPr/>
        </p:nvSpPr>
        <p:spPr>
          <a:xfrm>
            <a:off x="685800" y="5577840"/>
            <a:ext cx="10835640" cy="777240"/>
          </a:xfrm>
          <a:prstGeom prst="roundRect">
            <a:avLst>
              <a:gd name="adj" fmla="val 6000"/>
            </a:avLst>
          </a:prstGeom>
          <a:solidFill>
            <a:srgbClr val="E2E8F0"/>
          </a:solidFill>
          <a:ln w="1905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577840"/>
            <a:ext cx="10241280" cy="777240"/>
          </a:xfrm>
          <a:prstGeom prst="rect">
            <a:avLst/>
          </a:prstGeom>
          <a:noFill/>
        </p:spPr>
        <p:txBody>
          <a:bodyPr wrap="square" anchor="ctr" lIns="0" rIns="0" tIns="0" bIns="0">
            <a:spAutoFit/>
          </a:bodyPr>
          <a:lstStyle/>
          <a:p>
            <a:pPr algn="l">
              <a:lnSpc>
                <a:spcPct val="115000"/>
              </a:lnSpc>
              <a:spcAft>
                <a:spcPts val="800"/>
              </a:spcAft>
            </a:pPr>
            <a:r>
              <a:rPr sz="1900" b="0" i="0">
                <a:solidFill>
                  <a:srgbClr val="0F172A"/>
                </a:solidFill>
                <a:latin typeface="Segoe UI"/>
              </a:rPr>
              <a:t>Mô hình có sai thì ngưỡng cứng vẫn kêu. Dòng đó không bao giờ được bỏ.</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Đội đã thử nghiệm những gì</a:t>
            </a:r>
          </a:p>
        </p:txBody>
      </p:sp>
      <p:sp>
        <p:nvSpPr>
          <p:cNvPr id="4" name="Rectangle 3"/>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10881360" cy="457200"/>
          </a:xfrm>
          <a:prstGeom prst="rect">
            <a:avLst/>
          </a:prstGeom>
          <a:noFill/>
        </p:spPr>
        <p:txBody>
          <a:bodyPr wrap="square" anchor="t" lIns="0" rIns="0" tIns="0" bIns="0">
            <a:spAutoFit/>
          </a:bodyPr>
          <a:lstStyle/>
          <a:p>
            <a:pPr algn="l">
              <a:lnSpc>
                <a:spcPct val="115000"/>
              </a:lnSpc>
              <a:spcAft>
                <a:spcPts val="800"/>
              </a:spcAft>
            </a:pPr>
            <a:r>
              <a:rPr sz="2000" b="0" i="0">
                <a:solidFill>
                  <a:srgbClr val="475569"/>
                </a:solidFill>
                <a:latin typeface="Segoe UI"/>
              </a:rPr>
              <a:t>Pack thí nghiệm dùng cell tương tự, cộng với dữ liệu công khai đo trên pack thật — chưa phải pack xe điện đang chạy.</a:t>
            </a:r>
          </a:p>
        </p:txBody>
      </p:sp>
      <p:sp>
        <p:nvSpPr>
          <p:cNvPr id="6" name="Rounded Rectangle 5"/>
          <p:cNvSpPr/>
          <p:nvPr/>
        </p:nvSpPr>
        <p:spPr>
          <a:xfrm>
            <a:off x="685800" y="2148840"/>
            <a:ext cx="10835640" cy="68580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48840"/>
            <a:ext cx="4937760" cy="685800"/>
          </a:xfrm>
          <a:prstGeom prst="rect">
            <a:avLst/>
          </a:prstGeom>
          <a:noFill/>
        </p:spPr>
        <p:txBody>
          <a:bodyPr wrap="square" anchor="ctr" lIns="0" rIns="0" tIns="0" bIns="0">
            <a:spAutoFit/>
          </a:bodyPr>
          <a:lstStyle/>
          <a:p>
            <a:pPr algn="l">
              <a:lnSpc>
                <a:spcPct val="115000"/>
              </a:lnSpc>
              <a:spcAft>
                <a:spcPts val="800"/>
              </a:spcAft>
            </a:pPr>
            <a:r>
              <a:rPr sz="1800" b="0" i="0">
                <a:solidFill>
                  <a:srgbClr val="0F172A"/>
                </a:solidFill>
                <a:latin typeface="Segoe UI"/>
              </a:rPr>
              <a:t>Cảm biến và đường truyền, trên bàn</a:t>
            </a:r>
          </a:p>
        </p:txBody>
      </p:sp>
      <p:sp>
        <p:nvSpPr>
          <p:cNvPr id="8" name="TextBox 7"/>
          <p:cNvSpPr txBox="1"/>
          <p:nvPr/>
        </p:nvSpPr>
        <p:spPr>
          <a:xfrm>
            <a:off x="6217920" y="2148840"/>
            <a:ext cx="5029200" cy="685800"/>
          </a:xfrm>
          <a:prstGeom prst="rect">
            <a:avLst/>
          </a:prstGeom>
          <a:noFill/>
        </p:spPr>
        <p:txBody>
          <a:bodyPr wrap="square" anchor="ctr" lIns="0" rIns="0" tIns="0" bIns="0">
            <a:spAutoFit/>
          </a:bodyPr>
          <a:lstStyle/>
          <a:p>
            <a:pPr algn="l">
              <a:lnSpc>
                <a:spcPct val="105000"/>
              </a:lnSpc>
              <a:spcAft>
                <a:spcPts val="800"/>
              </a:spcAft>
            </a:pPr>
            <a:r>
              <a:rPr sz="1800" b="1" i="0">
                <a:solidFill>
                  <a:srgbClr val="15803D"/>
                </a:solidFill>
                <a:latin typeface="Segoe UI"/>
              </a:rPr>
              <a:t>lên dashboard theo thời gian thực, đệm khi mất mạng</a:t>
            </a:r>
          </a:p>
        </p:txBody>
      </p:sp>
      <p:sp>
        <p:nvSpPr>
          <p:cNvPr id="9" name="Rounded Rectangle 8"/>
          <p:cNvSpPr/>
          <p:nvPr/>
        </p:nvSpPr>
        <p:spPr>
          <a:xfrm>
            <a:off x="685800" y="2907792"/>
            <a:ext cx="10835640" cy="685800"/>
          </a:xfrm>
          <a:prstGeom prst="roundRect">
            <a:avLst>
              <a:gd name="adj" fmla="val 6000"/>
            </a:avLst>
          </a:prstGeom>
          <a:solidFill>
            <a:srgbClr val="E2E8F0"/>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07792"/>
            <a:ext cx="4937760" cy="685800"/>
          </a:xfrm>
          <a:prstGeom prst="rect">
            <a:avLst/>
          </a:prstGeom>
          <a:noFill/>
        </p:spPr>
        <p:txBody>
          <a:bodyPr wrap="square" anchor="ctr" lIns="0" rIns="0" tIns="0" bIns="0">
            <a:spAutoFit/>
          </a:bodyPr>
          <a:lstStyle/>
          <a:p>
            <a:pPr algn="l">
              <a:lnSpc>
                <a:spcPct val="115000"/>
              </a:lnSpc>
              <a:spcAft>
                <a:spcPts val="800"/>
              </a:spcAft>
            </a:pPr>
            <a:r>
              <a:rPr sz="1800" b="0" i="0">
                <a:solidFill>
                  <a:srgbClr val="0F172A"/>
                </a:solidFill>
                <a:latin typeface="Segoe UI"/>
              </a:rPr>
              <a:t>Logic báo động, kiểm đủ trên bench</a:t>
            </a:r>
          </a:p>
        </p:txBody>
      </p:sp>
      <p:sp>
        <p:nvSpPr>
          <p:cNvPr id="11" name="TextBox 10"/>
          <p:cNvSpPr txBox="1"/>
          <p:nvPr/>
        </p:nvSpPr>
        <p:spPr>
          <a:xfrm>
            <a:off x="6217920" y="2907792"/>
            <a:ext cx="5029200" cy="685800"/>
          </a:xfrm>
          <a:prstGeom prst="rect">
            <a:avLst/>
          </a:prstGeom>
          <a:noFill/>
        </p:spPr>
        <p:txBody>
          <a:bodyPr wrap="square" anchor="ctr" lIns="0" rIns="0" tIns="0" bIns="0">
            <a:spAutoFit/>
          </a:bodyPr>
          <a:lstStyle/>
          <a:p>
            <a:pPr algn="l">
              <a:lnSpc>
                <a:spcPct val="105000"/>
              </a:lnSpc>
              <a:spcAft>
                <a:spcPts val="800"/>
              </a:spcAft>
            </a:pPr>
            <a:r>
              <a:rPr sz="1800" b="1" i="0">
                <a:solidFill>
                  <a:srgbClr val="15803D"/>
                </a:solidFill>
                <a:latin typeface="Segoe UI"/>
              </a:rPr>
              <a:t>cả bốn mức đúng, kể cả khi tắt AI</a:t>
            </a:r>
          </a:p>
        </p:txBody>
      </p:sp>
      <p:sp>
        <p:nvSpPr>
          <p:cNvPr id="12" name="Rounded Rectangle 11"/>
          <p:cNvSpPr/>
          <p:nvPr/>
        </p:nvSpPr>
        <p:spPr>
          <a:xfrm>
            <a:off x="685800" y="3666744"/>
            <a:ext cx="10835640" cy="68580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666744"/>
            <a:ext cx="4937760" cy="685800"/>
          </a:xfrm>
          <a:prstGeom prst="rect">
            <a:avLst/>
          </a:prstGeom>
          <a:noFill/>
        </p:spPr>
        <p:txBody>
          <a:bodyPr wrap="square" anchor="ctr" lIns="0" rIns="0" tIns="0" bIns="0">
            <a:spAutoFit/>
          </a:bodyPr>
          <a:lstStyle/>
          <a:p>
            <a:pPr algn="l">
              <a:lnSpc>
                <a:spcPct val="115000"/>
              </a:lnSpc>
              <a:spcAft>
                <a:spcPts val="800"/>
              </a:spcAft>
            </a:pPr>
            <a:r>
              <a:rPr sz="1800" b="0" i="0">
                <a:solidFill>
                  <a:srgbClr val="0F172A"/>
                </a:solidFill>
                <a:latin typeface="Segoe UI"/>
              </a:rPr>
              <a:t>Dữ liệu công khai, tiêm lỗi vào một cell</a:t>
            </a:r>
          </a:p>
        </p:txBody>
      </p:sp>
      <p:sp>
        <p:nvSpPr>
          <p:cNvPr id="14" name="TextBox 13"/>
          <p:cNvSpPr txBox="1"/>
          <p:nvPr/>
        </p:nvSpPr>
        <p:spPr>
          <a:xfrm>
            <a:off x="6217920" y="3666744"/>
            <a:ext cx="5029200" cy="685800"/>
          </a:xfrm>
          <a:prstGeom prst="rect">
            <a:avLst/>
          </a:prstGeom>
          <a:noFill/>
        </p:spPr>
        <p:txBody>
          <a:bodyPr wrap="square" anchor="ctr" lIns="0" rIns="0" tIns="0" bIns="0">
            <a:spAutoFit/>
          </a:bodyPr>
          <a:lstStyle/>
          <a:p>
            <a:pPr algn="l">
              <a:lnSpc>
                <a:spcPct val="105000"/>
              </a:lnSpc>
              <a:spcAft>
                <a:spcPts val="800"/>
              </a:spcAft>
            </a:pPr>
            <a:r>
              <a:rPr sz="1800" b="1" i="0">
                <a:solidFill>
                  <a:srgbClr val="15803D"/>
                </a:solidFill>
                <a:latin typeface="Segoe UI"/>
              </a:rPr>
              <a:t>phát hiện ổn định</a:t>
            </a:r>
          </a:p>
        </p:txBody>
      </p:sp>
      <p:sp>
        <p:nvSpPr>
          <p:cNvPr id="15" name="Rounded Rectangle 14"/>
          <p:cNvSpPr/>
          <p:nvPr/>
        </p:nvSpPr>
        <p:spPr>
          <a:xfrm>
            <a:off x="685800" y="4425696"/>
            <a:ext cx="10835640" cy="685800"/>
          </a:xfrm>
          <a:prstGeom prst="roundRect">
            <a:avLst>
              <a:gd name="adj" fmla="val 6000"/>
            </a:avLst>
          </a:prstGeom>
          <a:solidFill>
            <a:srgbClr val="E2E8F0"/>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425696"/>
            <a:ext cx="4937760" cy="685800"/>
          </a:xfrm>
          <a:prstGeom prst="rect">
            <a:avLst/>
          </a:prstGeom>
          <a:noFill/>
        </p:spPr>
        <p:txBody>
          <a:bodyPr wrap="square" anchor="ctr" lIns="0" rIns="0" tIns="0" bIns="0">
            <a:spAutoFit/>
          </a:bodyPr>
          <a:lstStyle/>
          <a:p>
            <a:pPr algn="l">
              <a:lnSpc>
                <a:spcPct val="115000"/>
              </a:lnSpc>
              <a:spcAft>
                <a:spcPts val="800"/>
              </a:spcAft>
            </a:pPr>
            <a:r>
              <a:rPr sz="1800" b="0" i="0">
                <a:solidFill>
                  <a:srgbClr val="0F172A"/>
                </a:solidFill>
                <a:latin typeface="Segoe UI"/>
              </a:rPr>
              <a:t>Pack thật độc lập, chưa từng thấy</a:t>
            </a:r>
          </a:p>
        </p:txBody>
      </p:sp>
      <p:sp>
        <p:nvSpPr>
          <p:cNvPr id="17" name="TextBox 16"/>
          <p:cNvSpPr txBox="1"/>
          <p:nvPr/>
        </p:nvSpPr>
        <p:spPr>
          <a:xfrm>
            <a:off x="6217920" y="4425696"/>
            <a:ext cx="5029200" cy="685800"/>
          </a:xfrm>
          <a:prstGeom prst="rect">
            <a:avLst/>
          </a:prstGeom>
          <a:noFill/>
        </p:spPr>
        <p:txBody>
          <a:bodyPr wrap="square" anchor="ctr" lIns="0" rIns="0" tIns="0" bIns="0">
            <a:spAutoFit/>
          </a:bodyPr>
          <a:lstStyle/>
          <a:p>
            <a:pPr algn="l">
              <a:lnSpc>
                <a:spcPct val="105000"/>
              </a:lnSpc>
              <a:spcAft>
                <a:spcPts val="800"/>
              </a:spcAft>
            </a:pPr>
            <a:r>
              <a:rPr sz="1800" b="1" i="0">
                <a:solidFill>
                  <a:srgbClr val="15803D"/>
                </a:solidFill>
                <a:latin typeface="Segoe UI"/>
              </a:rPr>
              <a:t>file lỗi tách rõ khỏi file bình thường</a:t>
            </a:r>
          </a:p>
        </p:txBody>
      </p:sp>
      <p:sp>
        <p:nvSpPr>
          <p:cNvPr id="18" name="TextBox 17"/>
          <p:cNvSpPr txBox="1"/>
          <p:nvPr/>
        </p:nvSpPr>
        <p:spPr>
          <a:xfrm>
            <a:off x="685800" y="6172200"/>
            <a:ext cx="10835640" cy="548640"/>
          </a:xfrm>
          <a:prstGeom prst="rect">
            <a:avLst/>
          </a:prstGeom>
          <a:noFill/>
        </p:spPr>
        <p:txBody>
          <a:bodyPr wrap="square" anchor="t" lIns="0" rIns="0" tIns="0" bIns="0">
            <a:spAutoFit/>
          </a:bodyPr>
          <a:lstStyle/>
          <a:p>
            <a:pPr algn="l">
              <a:lnSpc>
                <a:spcPct val="115000"/>
              </a:lnSpc>
              <a:spcAft>
                <a:spcPts val="800"/>
              </a:spcAft>
            </a:pPr>
            <a:r>
              <a:rPr sz="1600" b="0" i="1">
                <a:solidFill>
                  <a:srgbClr val="475569"/>
                </a:solidFill>
                <a:latin typeface="Segoe UI"/>
              </a:rPr>
              <a:t>Đây là kết quả trên bàn thí nghiệm và trên dữ liệu công khai. Sưởi một cell trên chính pack của đội, và đo trên pack xe điện đang chạy, là hai bước tiếp theo — đội chưa làm.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Phép kiểm đội đã TRƯỢT — và nó dạy được gì</a:t>
            </a:r>
          </a:p>
        </p:txBody>
      </p:sp>
      <p:sp>
        <p:nvSpPr>
          <p:cNvPr id="4" name="Rectangle 3"/>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10881360" cy="457200"/>
          </a:xfrm>
          <a:prstGeom prst="rect">
            <a:avLst/>
          </a:prstGeom>
          <a:noFill/>
        </p:spPr>
        <p:txBody>
          <a:bodyPr wrap="square" anchor="t" lIns="0" rIns="0" tIns="0" bIns="0">
            <a:spAutoFit/>
          </a:bodyPr>
          <a:lstStyle/>
          <a:p>
            <a:pPr algn="l">
              <a:lnSpc>
                <a:spcPct val="115000"/>
              </a:lnSpc>
              <a:spcAft>
                <a:spcPts val="800"/>
              </a:spcAft>
            </a:pPr>
            <a:r>
              <a:rPr sz="2000" b="0" i="0">
                <a:solidFill>
                  <a:srgbClr val="475569"/>
                </a:solidFill>
                <a:latin typeface="Segoe UI"/>
              </a:rPr>
              <a:t>Đội nêu chuyện này vì đây là kết quả kỹ thuật giá trị nhất đội có.</a:t>
            </a:r>
          </a:p>
        </p:txBody>
      </p:sp>
      <p:sp>
        <p:nvSpPr>
          <p:cNvPr id="6" name="Rounded Rectangle 5"/>
          <p:cNvSpPr/>
          <p:nvPr/>
        </p:nvSpPr>
        <p:spPr>
          <a:xfrm>
            <a:off x="685800" y="2057400"/>
            <a:ext cx="3474720" cy="3520440"/>
          </a:xfrm>
          <a:prstGeom prst="roundRect">
            <a:avLst>
              <a:gd name="adj" fmla="val 6000"/>
            </a:avLst>
          </a:prstGeom>
          <a:solidFill>
            <a:srgbClr val="F1F5F9"/>
          </a:solidFill>
          <a:ln w="1905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331720"/>
            <a:ext cx="2926080" cy="3017520"/>
          </a:xfrm>
          <a:prstGeom prst="rect">
            <a:avLst/>
          </a:prstGeom>
          <a:noFill/>
        </p:spPr>
        <p:txBody>
          <a:bodyPr wrap="square" anchor="t" lIns="0" rIns="0" tIns="0" bIns="0">
            <a:spAutoFit/>
          </a:bodyPr>
          <a:lstStyle/>
          <a:p>
            <a:pPr algn="l">
              <a:lnSpc>
                <a:spcPct val="115000"/>
              </a:lnSpc>
              <a:spcAft>
                <a:spcPts val="700"/>
              </a:spcAft>
            </a:pPr>
            <a:r>
              <a:rPr sz="2100" b="1" i="0">
                <a:solidFill>
                  <a:srgbClr val="B91C1C"/>
                </a:solidFill>
                <a:latin typeface="Segoe UI"/>
              </a:rPr>
              <a:t>1 · TRƯỢT</a:t>
            </a:r>
          </a:p>
          <a:p>
            <a:pPr algn="l">
              <a:lnSpc>
                <a:spcPct val="115000"/>
              </a:lnSpc>
              <a:spcAft>
                <a:spcPts val="700"/>
              </a:spcAft>
            </a:pPr>
            <a:r>
              <a:rPr sz="600" b="0" i="0">
                <a:solidFill>
                  <a:srgbClr val="0F172A"/>
                </a:solidFill>
                <a:latin typeface="Segoe UI"/>
              </a:rPr>
              <a:t/>
            </a:r>
          </a:p>
          <a:p>
            <a:pPr algn="l">
              <a:lnSpc>
                <a:spcPct val="115000"/>
              </a:lnSpc>
              <a:spcAft>
                <a:spcPts val="700"/>
              </a:spcAft>
            </a:pPr>
            <a:r>
              <a:rPr sz="1700" b="0" i="0">
                <a:solidFill>
                  <a:srgbClr val="0F172A"/>
                </a:solidFill>
                <a:latin typeface="Segoe UI"/>
              </a:rPr>
              <a:t>Trên pack thật chưa từng huấn luyện, mô hình báo động cả ở file bình thường.</a:t>
            </a:r>
          </a:p>
          <a:p>
            <a:pPr algn="l">
              <a:lnSpc>
                <a:spcPct val="115000"/>
              </a:lnSpc>
              <a:spcAft>
                <a:spcPts val="700"/>
              </a:spcAft>
            </a:pPr>
            <a:r>
              <a:rPr sz="600" b="0" i="0">
                <a:solidFill>
                  <a:srgbClr val="0F172A"/>
                </a:solidFill>
                <a:latin typeface="Segoe UI"/>
              </a:rPr>
              <a:t/>
            </a:r>
          </a:p>
          <a:p>
            <a:pPr algn="l">
              <a:lnSpc>
                <a:spcPct val="115000"/>
              </a:lnSpc>
              <a:spcAft>
                <a:spcPts val="700"/>
              </a:spcAft>
            </a:pPr>
            <a:r>
              <a:rPr sz="1700" b="0" i="0">
                <a:solidFill>
                  <a:srgbClr val="475569"/>
                </a:solidFill>
                <a:latin typeface="Segoe UI"/>
              </a:rPr>
              <a:t>Cao hơn cả file có lỗi.</a:t>
            </a:r>
          </a:p>
        </p:txBody>
      </p:sp>
      <p:sp>
        <p:nvSpPr>
          <p:cNvPr id="8" name="Rounded Rectangle 7"/>
          <p:cNvSpPr/>
          <p:nvPr/>
        </p:nvSpPr>
        <p:spPr>
          <a:xfrm>
            <a:off x="4434839" y="2057400"/>
            <a:ext cx="3474720" cy="3520440"/>
          </a:xfrm>
          <a:prstGeom prst="roundRect">
            <a:avLst>
              <a:gd name="adj" fmla="val 6000"/>
            </a:avLst>
          </a:prstGeom>
          <a:solidFill>
            <a:srgbClr val="F1F5F9"/>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9159" y="2331720"/>
            <a:ext cx="2926080" cy="3017520"/>
          </a:xfrm>
          <a:prstGeom prst="rect">
            <a:avLst/>
          </a:prstGeom>
          <a:noFill/>
        </p:spPr>
        <p:txBody>
          <a:bodyPr wrap="square" anchor="t" lIns="0" rIns="0" tIns="0" bIns="0">
            <a:spAutoFit/>
          </a:bodyPr>
          <a:lstStyle/>
          <a:p>
            <a:pPr algn="l">
              <a:lnSpc>
                <a:spcPct val="115000"/>
              </a:lnSpc>
              <a:spcAft>
                <a:spcPts val="700"/>
              </a:spcAft>
            </a:pPr>
            <a:r>
              <a:rPr sz="2100" b="1" i="0">
                <a:solidFill>
                  <a:srgbClr val="B45309"/>
                </a:solidFill>
                <a:latin typeface="Segoe UI"/>
              </a:rPr>
              <a:t>2 · CHẨN ĐOÁN</a:t>
            </a:r>
          </a:p>
          <a:p>
            <a:pPr algn="l">
              <a:lnSpc>
                <a:spcPct val="115000"/>
              </a:lnSpc>
              <a:spcAft>
                <a:spcPts val="700"/>
              </a:spcAft>
            </a:pPr>
            <a:r>
              <a:rPr sz="600" b="0" i="0">
                <a:solidFill>
                  <a:srgbClr val="0F172A"/>
                </a:solidFill>
                <a:latin typeface="Segoe UI"/>
              </a:rPr>
              <a:t/>
            </a:r>
          </a:p>
          <a:p>
            <a:pPr algn="l">
              <a:lnSpc>
                <a:spcPct val="115000"/>
              </a:lnSpc>
              <a:spcAft>
                <a:spcPts val="700"/>
              </a:spcAft>
            </a:pPr>
            <a:r>
              <a:rPr sz="1700" b="0" i="0">
                <a:solidFill>
                  <a:srgbClr val="0F172A"/>
                </a:solidFill>
                <a:latin typeface="Segoe UI"/>
              </a:rPr>
              <a:t>Các đầu vào tuyệt đối — nhiệt môi trường, dòng, mức sạc — lệch xa khỏi dải đã học.</a:t>
            </a:r>
          </a:p>
          <a:p>
            <a:pPr algn="l">
              <a:lnSpc>
                <a:spcPct val="115000"/>
              </a:lnSpc>
              <a:spcAft>
                <a:spcPts val="700"/>
              </a:spcAft>
            </a:pPr>
            <a:r>
              <a:rPr sz="600" b="0" i="0">
                <a:solidFill>
                  <a:srgbClr val="0F172A"/>
                </a:solidFill>
                <a:latin typeface="Segoe UI"/>
              </a:rPr>
              <a:t/>
            </a:r>
          </a:p>
          <a:p>
            <a:pPr algn="l">
              <a:lnSpc>
                <a:spcPct val="115000"/>
              </a:lnSpc>
              <a:spcAft>
                <a:spcPts val="700"/>
              </a:spcAft>
            </a:pPr>
            <a:r>
              <a:rPr sz="1700" b="0" i="0">
                <a:solidFill>
                  <a:srgbClr val="475569"/>
                </a:solidFill>
                <a:latin typeface="Segoe UI"/>
              </a:rPr>
              <a:t>Chúng giống nhau ở mọi cell nên đẩy tất cả lên cùng lúc.</a:t>
            </a:r>
          </a:p>
        </p:txBody>
      </p:sp>
      <p:sp>
        <p:nvSpPr>
          <p:cNvPr id="10" name="Rounded Rectangle 9"/>
          <p:cNvSpPr/>
          <p:nvPr/>
        </p:nvSpPr>
        <p:spPr>
          <a:xfrm>
            <a:off x="8183878" y="2057400"/>
            <a:ext cx="3474720" cy="3520440"/>
          </a:xfrm>
          <a:prstGeom prst="roundRect">
            <a:avLst>
              <a:gd name="adj" fmla="val 6000"/>
            </a:avLst>
          </a:prstGeom>
          <a:solidFill>
            <a:srgbClr val="E2E8F0"/>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198" y="2331720"/>
            <a:ext cx="2926080" cy="3017520"/>
          </a:xfrm>
          <a:prstGeom prst="rect">
            <a:avLst/>
          </a:prstGeom>
          <a:noFill/>
        </p:spPr>
        <p:txBody>
          <a:bodyPr wrap="square" anchor="t" lIns="0" rIns="0" tIns="0" bIns="0">
            <a:spAutoFit/>
          </a:bodyPr>
          <a:lstStyle/>
          <a:p>
            <a:pPr algn="l">
              <a:lnSpc>
                <a:spcPct val="115000"/>
              </a:lnSpc>
              <a:spcAft>
                <a:spcPts val="700"/>
              </a:spcAft>
            </a:pPr>
            <a:r>
              <a:rPr sz="2100" b="1" i="0">
                <a:solidFill>
                  <a:srgbClr val="15803D"/>
                </a:solidFill>
                <a:latin typeface="Segoe UI"/>
              </a:rPr>
              <a:t>3 · ĐÃ SỬA</a:t>
            </a:r>
          </a:p>
          <a:p>
            <a:pPr algn="l">
              <a:lnSpc>
                <a:spcPct val="115000"/>
              </a:lnSpc>
              <a:spcAft>
                <a:spcPts val="700"/>
              </a:spcAft>
            </a:pPr>
            <a:r>
              <a:rPr sz="600" b="0" i="0">
                <a:solidFill>
                  <a:srgbClr val="0F172A"/>
                </a:solidFill>
                <a:latin typeface="Segoe UI"/>
              </a:rPr>
              <a:t/>
            </a:r>
          </a:p>
          <a:p>
            <a:pPr algn="l">
              <a:lnSpc>
                <a:spcPct val="115000"/>
              </a:lnSpc>
              <a:spcAft>
                <a:spcPts val="700"/>
              </a:spcAft>
            </a:pPr>
            <a:r>
              <a:rPr sz="1700" b="0" i="0">
                <a:solidFill>
                  <a:srgbClr val="0F172A"/>
                </a:solidFill>
                <a:latin typeface="Segoe UI"/>
              </a:rPr>
              <a:t>Bỏ chúng, chỉ giữ quan hệ giữa các cell.</a:t>
            </a:r>
          </a:p>
          <a:p>
            <a:pPr algn="l">
              <a:lnSpc>
                <a:spcPct val="115000"/>
              </a:lnSpc>
              <a:spcAft>
                <a:spcPts val="700"/>
              </a:spcAft>
            </a:pPr>
            <a:r>
              <a:rPr sz="600" b="0" i="0">
                <a:solidFill>
                  <a:srgbClr val="0F172A"/>
                </a:solidFill>
                <a:latin typeface="Segoe UI"/>
              </a:rPr>
              <a:t/>
            </a:r>
          </a:p>
          <a:p>
            <a:pPr algn="l">
              <a:lnSpc>
                <a:spcPct val="115000"/>
              </a:lnSpc>
              <a:spcAft>
                <a:spcPts val="700"/>
              </a:spcAft>
            </a:pPr>
            <a:r>
              <a:rPr sz="1700" b="0" i="0">
                <a:solidFill>
                  <a:srgbClr val="475569"/>
                </a:solidFill>
                <a:latin typeface="Segoe UI"/>
              </a:rPr>
              <a:t>Báo oan giảm, phát hiện tốt hơn, và chuyển giao được sang pack lạ.</a:t>
            </a:r>
          </a:p>
        </p:txBody>
      </p:sp>
      <p:sp>
        <p:nvSpPr>
          <p:cNvPr id="12" name="TextBox 11"/>
          <p:cNvSpPr txBox="1"/>
          <p:nvPr/>
        </p:nvSpPr>
        <p:spPr>
          <a:xfrm>
            <a:off x="685800" y="5806440"/>
            <a:ext cx="10835640" cy="548640"/>
          </a:xfrm>
          <a:prstGeom prst="rect">
            <a:avLst/>
          </a:prstGeom>
          <a:noFill/>
        </p:spPr>
        <p:txBody>
          <a:bodyPr wrap="square" anchor="t" lIns="0" rIns="0" tIns="0" bIns="0">
            <a:spAutoFit/>
          </a:bodyPr>
          <a:lstStyle/>
          <a:p>
            <a:pPr algn="l">
              <a:lnSpc>
                <a:spcPct val="115000"/>
              </a:lnSpc>
              <a:spcAft>
                <a:spcPts val="800"/>
              </a:spcAft>
            </a:pPr>
            <a:r>
              <a:rPr sz="2000" b="1" i="0">
                <a:solidFill>
                  <a:srgbClr val="B45309"/>
                </a:solidFill>
                <a:latin typeface="Segoe UI"/>
              </a:rPr>
              <a:t>Đây cũng chính là thứ làm cho sản xuất hàng loạt khả thi: mọi máy nạp cùng một mô hình.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Lớp 2 — pack này còn dùng được bao lâu?</a:t>
            </a:r>
          </a:p>
        </p:txBody>
      </p:sp>
      <p:sp>
        <p:nvSpPr>
          <p:cNvPr id="4" name="Rectangle 3"/>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10881360" cy="457200"/>
          </a:xfrm>
          <a:prstGeom prst="rect">
            <a:avLst/>
          </a:prstGeom>
          <a:noFill/>
        </p:spPr>
        <p:txBody>
          <a:bodyPr wrap="square" anchor="t" lIns="0" rIns="0" tIns="0" bIns="0">
            <a:spAutoFit/>
          </a:bodyPr>
          <a:lstStyle/>
          <a:p>
            <a:pPr algn="l">
              <a:lnSpc>
                <a:spcPct val="115000"/>
              </a:lnSpc>
              <a:spcAft>
                <a:spcPts val="800"/>
              </a:spcAft>
            </a:pPr>
            <a:r>
              <a:rPr sz="2000" b="0" i="0">
                <a:solidFill>
                  <a:srgbClr val="475569"/>
                </a:solidFill>
                <a:latin typeface="Segoe UI"/>
              </a:rPr>
              <a:t>Không ai xả kiệt pin mỗi tuần để đo. Nhưng ngày nào người dùng cũng cắm sạc.</a:t>
            </a:r>
          </a:p>
        </p:txBody>
      </p:sp>
      <p:sp>
        <p:nvSpPr>
          <p:cNvPr id="6" name="TextBox 5"/>
          <p:cNvSpPr txBox="1"/>
          <p:nvPr/>
        </p:nvSpPr>
        <p:spPr>
          <a:xfrm>
            <a:off x="685800" y="2011680"/>
            <a:ext cx="5029200" cy="3383280"/>
          </a:xfrm>
          <a:prstGeom prst="rect">
            <a:avLst/>
          </a:prstGeom>
          <a:noFill/>
        </p:spPr>
        <p:txBody>
          <a:bodyPr wrap="square" anchor="t" lIns="0" rIns="0" tIns="0" bIns="0">
            <a:spAutoFit/>
          </a:bodyPr>
          <a:lstStyle/>
          <a:p>
            <a:pPr algn="l">
              <a:lnSpc>
                <a:spcPct val="115000"/>
              </a:lnSpc>
              <a:spcAft>
                <a:spcPts val="900"/>
              </a:spcAft>
            </a:pPr>
            <a:r>
              <a:rPr sz="2400" b="1" i="0">
                <a:solidFill>
                  <a:srgbClr val="B45309"/>
                </a:solidFill>
                <a:latin typeface="Segoe UI"/>
              </a:rPr>
              <a:t>Đọc dáng của đường sạc.</a:t>
            </a:r>
          </a:p>
          <a:p>
            <a:pPr algn="l">
              <a:lnSpc>
                <a:spcPct val="115000"/>
              </a:lnSpc>
              <a:spcAft>
                <a:spcPts val="900"/>
              </a:spcAft>
            </a:pPr>
            <a:r>
              <a:rPr sz="800" b="0" i="0">
                <a:solidFill>
                  <a:srgbClr val="0F172A"/>
                </a:solidFill>
                <a:latin typeface="Segoe UI"/>
              </a:rPr>
              <a:t/>
            </a:r>
          </a:p>
          <a:p>
            <a:pPr algn="l">
              <a:lnSpc>
                <a:spcPct val="115000"/>
              </a:lnSpc>
              <a:spcAft>
                <a:spcPts val="900"/>
              </a:spcAft>
            </a:pPr>
            <a:r>
              <a:rPr sz="1900" b="0" i="0">
                <a:solidFill>
                  <a:srgbClr val="0F172A"/>
                </a:solidFill>
                <a:latin typeface="Segoe UI"/>
              </a:rPr>
              <a:t>Cell chai chạm ngưỡng điện áp sớm hơn, rồi nằm ở pha điện áp không đổi lâu hơn hẳn.</a:t>
            </a:r>
          </a:p>
          <a:p>
            <a:pPr algn="l">
              <a:lnSpc>
                <a:spcPct val="115000"/>
              </a:lnSpc>
              <a:spcAft>
                <a:spcPts val="900"/>
              </a:spcAft>
            </a:pPr>
            <a:r>
              <a:rPr sz="800" b="0" i="0">
                <a:solidFill>
                  <a:srgbClr val="0F172A"/>
                </a:solidFill>
                <a:latin typeface="Segoe UI"/>
              </a:rPr>
              <a:t/>
            </a:r>
          </a:p>
          <a:p>
            <a:pPr algn="l">
              <a:lnSpc>
                <a:spcPct val="115000"/>
              </a:lnSpc>
              <a:spcAft>
                <a:spcPts val="900"/>
              </a:spcAft>
            </a:pPr>
            <a:r>
              <a:rPr sz="1900" b="0" i="0">
                <a:solidFill>
                  <a:srgbClr val="475569"/>
                </a:solidFill>
                <a:latin typeface="Segoe UI"/>
              </a:rPr>
              <a:t>Đo được ngay trong một lần sạc bình thường — người dùng không phải làm gì.</a:t>
            </a:r>
          </a:p>
        </p:txBody>
      </p:sp>
      <p:pic>
        <p:nvPicPr>
          <p:cNvPr id="7" name="Picture 6" descr="fig_charge_curve.png"/>
          <p:cNvPicPr>
            <a:picLocks noChangeAspect="1"/>
          </p:cNvPicPr>
          <p:nvPr/>
        </p:nvPicPr>
        <p:blipFill>
          <a:blip r:embed="rId2"/>
          <a:srcRect l="151" r="151"/>
          <a:stretch>
            <a:fillRect/>
          </a:stretch>
        </p:blipFill>
        <p:spPr>
          <a:xfrm>
            <a:off x="5943600" y="1920240"/>
            <a:ext cx="5577840" cy="3429000"/>
          </a:xfrm>
          <a:prstGeom prst="rect">
            <a:avLst/>
          </a:prstGeom>
        </p:spPr>
      </p:pic>
      <p:sp>
        <p:nvSpPr>
          <p:cNvPr id="8" name="Rounded Rectangle 7"/>
          <p:cNvSpPr/>
          <p:nvPr/>
        </p:nvSpPr>
        <p:spPr>
          <a:xfrm>
            <a:off x="685800" y="5577840"/>
            <a:ext cx="10835640" cy="777240"/>
          </a:xfrm>
          <a:prstGeom prst="roundRect">
            <a:avLst>
              <a:gd name="adj" fmla="val 6000"/>
            </a:avLst>
          </a:prstGeom>
          <a:solidFill>
            <a:srgbClr val="E2E8F0"/>
          </a:solidFill>
          <a:ln w="1905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577840"/>
            <a:ext cx="10241280" cy="777240"/>
          </a:xfrm>
          <a:prstGeom prst="rect">
            <a:avLst/>
          </a:prstGeom>
          <a:noFill/>
        </p:spPr>
        <p:txBody>
          <a:bodyPr wrap="square" anchor="ctr" lIns="0" rIns="0" tIns="0" bIns="0">
            <a:spAutoFit/>
          </a:bodyPr>
          <a:lstStyle/>
          <a:p>
            <a:pPr algn="l">
              <a:lnSpc>
                <a:spcPct val="115000"/>
              </a:lnSpc>
              <a:spcAft>
                <a:spcPts val="800"/>
              </a:spcAft>
            </a:pPr>
            <a:r>
              <a:rPr sz="1800" b="0" i="0">
                <a:solidFill>
                  <a:srgbClr val="0F172A"/>
                </a:solidFill>
                <a:latin typeface="Segoe UI"/>
              </a:rPr>
              <a:t>Lớp 2 đặt trên cloud là cố ý: cải tiến mô hình không được phép bắt nạp lại firmware cho từng xe.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Bốn mức báo động, không phải một cái còi</a:t>
            </a:r>
          </a:p>
        </p:txBody>
      </p:sp>
      <p:sp>
        <p:nvSpPr>
          <p:cNvPr id="4" name="Rectangle 3"/>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10881360" cy="457200"/>
          </a:xfrm>
          <a:prstGeom prst="rect">
            <a:avLst/>
          </a:prstGeom>
          <a:noFill/>
        </p:spPr>
        <p:txBody>
          <a:bodyPr wrap="square" anchor="t" lIns="0" rIns="0" tIns="0" bIns="0">
            <a:spAutoFit/>
          </a:bodyPr>
          <a:lstStyle/>
          <a:p>
            <a:pPr algn="l">
              <a:lnSpc>
                <a:spcPct val="115000"/>
              </a:lnSpc>
              <a:spcAft>
                <a:spcPts val="800"/>
              </a:spcAft>
            </a:pPr>
            <a:r>
              <a:rPr sz="2000" b="0" i="0">
                <a:solidFill>
                  <a:srgbClr val="475569"/>
                </a:solidFill>
                <a:latin typeface="Segoe UI"/>
              </a:rPr>
              <a:t>"Theo dõi tiếp" và "ngắt sạc ngay" là hai mệnh lệnh khác nhau.</a:t>
            </a:r>
          </a:p>
        </p:txBody>
      </p:sp>
      <p:sp>
        <p:nvSpPr>
          <p:cNvPr id="6" name="Rounded Rectangle 5"/>
          <p:cNvSpPr/>
          <p:nvPr/>
        </p:nvSpPr>
        <p:spPr>
          <a:xfrm>
            <a:off x="685800" y="2103120"/>
            <a:ext cx="2514600" cy="2057400"/>
          </a:xfrm>
          <a:prstGeom prst="roundRect">
            <a:avLst>
              <a:gd name="adj" fmla="val 6000"/>
            </a:avLst>
          </a:prstGeom>
          <a:solidFill>
            <a:srgbClr val="F1F5F9"/>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377440"/>
            <a:ext cx="2514600" cy="640080"/>
          </a:xfrm>
          <a:prstGeom prst="rect">
            <a:avLst/>
          </a:prstGeom>
          <a:noFill/>
        </p:spPr>
        <p:txBody>
          <a:bodyPr wrap="square" anchor="t" lIns="0" rIns="0" tIns="0" bIns="0">
            <a:spAutoFit/>
          </a:bodyPr>
          <a:lstStyle/>
          <a:p>
            <a:pPr algn="ctr">
              <a:lnSpc>
                <a:spcPct val="115000"/>
              </a:lnSpc>
              <a:spcAft>
                <a:spcPts val="800"/>
              </a:spcAft>
            </a:pPr>
            <a:r>
              <a:rPr sz="2400" b="1" i="0">
                <a:solidFill>
                  <a:srgbClr val="15803D"/>
                </a:solidFill>
                <a:latin typeface="Segoe UI"/>
              </a:rPr>
              <a:t>OK</a:t>
            </a:r>
          </a:p>
        </p:txBody>
      </p:sp>
      <p:sp>
        <p:nvSpPr>
          <p:cNvPr id="8" name="TextBox 7"/>
          <p:cNvSpPr txBox="1"/>
          <p:nvPr/>
        </p:nvSpPr>
        <p:spPr>
          <a:xfrm>
            <a:off x="868680" y="3108960"/>
            <a:ext cx="2148840" cy="914400"/>
          </a:xfrm>
          <a:prstGeom prst="rect">
            <a:avLst/>
          </a:prstGeom>
          <a:noFill/>
        </p:spPr>
        <p:txBody>
          <a:bodyPr wrap="square" anchor="t" lIns="0" rIns="0" tIns="0" bIns="0">
            <a:spAutoFit/>
          </a:bodyPr>
          <a:lstStyle/>
          <a:p>
            <a:pPr algn="ctr">
              <a:lnSpc>
                <a:spcPct val="115000"/>
              </a:lnSpc>
              <a:spcAft>
                <a:spcPts val="800"/>
              </a:spcAft>
            </a:pPr>
            <a:r>
              <a:rPr sz="1700" b="0" i="0">
                <a:solidFill>
                  <a:srgbClr val="475569"/>
                </a:solidFill>
                <a:latin typeface="Segoe UI"/>
              </a:rPr>
              <a:t>bình thường</a:t>
            </a:r>
          </a:p>
        </p:txBody>
      </p:sp>
      <p:cxnSp>
        <p:nvCxnSpPr>
          <p:cNvPr id="9" name="Connector 8"/>
          <p:cNvCxnSpPr/>
          <p:nvPr/>
        </p:nvCxnSpPr>
        <p:spPr>
          <a:xfrm>
            <a:off x="3200400" y="3108960"/>
            <a:ext cx="274320" cy="0"/>
          </a:xfrm>
          <a:prstGeom prst="line">
            <a:avLst/>
          </a:prstGeom>
          <a:ln w="22225">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474720" y="2103120"/>
            <a:ext cx="2514600" cy="2057400"/>
          </a:xfrm>
          <a:prstGeom prst="roundRect">
            <a:avLst>
              <a:gd name="adj" fmla="val 6000"/>
            </a:avLst>
          </a:prstGeom>
          <a:solidFill>
            <a:srgbClr val="F1F5F9"/>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2377440"/>
            <a:ext cx="2514600" cy="640080"/>
          </a:xfrm>
          <a:prstGeom prst="rect">
            <a:avLst/>
          </a:prstGeom>
          <a:noFill/>
        </p:spPr>
        <p:txBody>
          <a:bodyPr wrap="square" anchor="t" lIns="0" rIns="0" tIns="0" bIns="0">
            <a:spAutoFit/>
          </a:bodyPr>
          <a:lstStyle/>
          <a:p>
            <a:pPr algn="ctr">
              <a:lnSpc>
                <a:spcPct val="115000"/>
              </a:lnSpc>
              <a:spcAft>
                <a:spcPts val="800"/>
              </a:spcAft>
            </a:pPr>
            <a:r>
              <a:rPr sz="2400" b="1" i="0">
                <a:solidFill>
                  <a:srgbClr val="B45309"/>
                </a:solidFill>
                <a:latin typeface="Segoe UI"/>
              </a:rPr>
              <a:t>THEO DÕI</a:t>
            </a:r>
          </a:p>
        </p:txBody>
      </p:sp>
      <p:sp>
        <p:nvSpPr>
          <p:cNvPr id="12" name="TextBox 11"/>
          <p:cNvSpPr txBox="1"/>
          <p:nvPr/>
        </p:nvSpPr>
        <p:spPr>
          <a:xfrm>
            <a:off x="3657600" y="3108960"/>
            <a:ext cx="2148840" cy="914400"/>
          </a:xfrm>
          <a:prstGeom prst="rect">
            <a:avLst/>
          </a:prstGeom>
          <a:noFill/>
        </p:spPr>
        <p:txBody>
          <a:bodyPr wrap="square" anchor="t" lIns="0" rIns="0" tIns="0" bIns="0">
            <a:spAutoFit/>
          </a:bodyPr>
          <a:lstStyle/>
          <a:p>
            <a:pPr algn="ctr">
              <a:lnSpc>
                <a:spcPct val="115000"/>
              </a:lnSpc>
              <a:spcAft>
                <a:spcPts val="800"/>
              </a:spcAft>
            </a:pPr>
            <a:r>
              <a:rPr sz="1700" b="0" i="0">
                <a:solidFill>
                  <a:srgbClr val="475569"/>
                </a:solidFill>
                <a:latin typeface="Segoe UI"/>
              </a:rPr>
              <a:t>một cell đang lệch</a:t>
            </a:r>
          </a:p>
        </p:txBody>
      </p:sp>
      <p:cxnSp>
        <p:nvCxnSpPr>
          <p:cNvPr id="13" name="Connector 12"/>
          <p:cNvCxnSpPr/>
          <p:nvPr/>
        </p:nvCxnSpPr>
        <p:spPr>
          <a:xfrm>
            <a:off x="5989320" y="3108960"/>
            <a:ext cx="274320" cy="0"/>
          </a:xfrm>
          <a:prstGeom prst="line">
            <a:avLst/>
          </a:prstGeom>
          <a:ln w="22225">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63640" y="2103120"/>
            <a:ext cx="2514600" cy="2057400"/>
          </a:xfrm>
          <a:prstGeom prst="roundRect">
            <a:avLst>
              <a:gd name="adj" fmla="val 6000"/>
            </a:avLst>
          </a:prstGeom>
          <a:solidFill>
            <a:srgbClr val="F1F5F9"/>
          </a:solidFill>
          <a:ln w="1905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2377440"/>
            <a:ext cx="2514600" cy="640080"/>
          </a:xfrm>
          <a:prstGeom prst="rect">
            <a:avLst/>
          </a:prstGeom>
          <a:noFill/>
        </p:spPr>
        <p:txBody>
          <a:bodyPr wrap="square" anchor="t" lIns="0" rIns="0" tIns="0" bIns="0">
            <a:spAutoFit/>
          </a:bodyPr>
          <a:lstStyle/>
          <a:p>
            <a:pPr algn="ctr">
              <a:lnSpc>
                <a:spcPct val="115000"/>
              </a:lnSpc>
              <a:spcAft>
                <a:spcPts val="800"/>
              </a:spcAft>
            </a:pPr>
            <a:r>
              <a:rPr sz="2400" b="1" i="0">
                <a:solidFill>
                  <a:srgbClr val="C2410C"/>
                </a:solidFill>
                <a:latin typeface="Segoe UI"/>
              </a:rPr>
              <a:t>BÁO ĐỘNG</a:t>
            </a:r>
          </a:p>
        </p:txBody>
      </p:sp>
      <p:sp>
        <p:nvSpPr>
          <p:cNvPr id="16" name="TextBox 15"/>
          <p:cNvSpPr txBox="1"/>
          <p:nvPr/>
        </p:nvSpPr>
        <p:spPr>
          <a:xfrm>
            <a:off x="6446520" y="3108960"/>
            <a:ext cx="2148840" cy="914400"/>
          </a:xfrm>
          <a:prstGeom prst="rect">
            <a:avLst/>
          </a:prstGeom>
          <a:noFill/>
        </p:spPr>
        <p:txBody>
          <a:bodyPr wrap="square" anchor="t" lIns="0" rIns="0" tIns="0" bIns="0">
            <a:spAutoFit/>
          </a:bodyPr>
          <a:lstStyle/>
          <a:p>
            <a:pPr algn="ctr">
              <a:lnSpc>
                <a:spcPct val="115000"/>
              </a:lnSpc>
              <a:spcAft>
                <a:spcPts val="800"/>
              </a:spcAft>
            </a:pPr>
            <a:r>
              <a:rPr sz="1700" b="0" i="0">
                <a:solidFill>
                  <a:srgbClr val="475569"/>
                </a:solidFill>
                <a:latin typeface="Segoe UI"/>
              </a:rPr>
              <a:t>AI, giữ liên tục</a:t>
            </a:r>
          </a:p>
        </p:txBody>
      </p:sp>
      <p:cxnSp>
        <p:nvCxnSpPr>
          <p:cNvPr id="17" name="Connector 16"/>
          <p:cNvCxnSpPr/>
          <p:nvPr/>
        </p:nvCxnSpPr>
        <p:spPr>
          <a:xfrm>
            <a:off x="8778240" y="3108960"/>
            <a:ext cx="274320" cy="0"/>
          </a:xfrm>
          <a:prstGeom prst="line">
            <a:avLst/>
          </a:prstGeom>
          <a:ln w="22225">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052560" y="2103120"/>
            <a:ext cx="2514600" cy="2057400"/>
          </a:xfrm>
          <a:prstGeom prst="roundRect">
            <a:avLst>
              <a:gd name="adj" fmla="val 6000"/>
            </a:avLst>
          </a:prstGeom>
          <a:solidFill>
            <a:srgbClr val="F1F5F9"/>
          </a:solidFill>
          <a:ln w="1905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0" y="2377440"/>
            <a:ext cx="2514600" cy="640080"/>
          </a:xfrm>
          <a:prstGeom prst="rect">
            <a:avLst/>
          </a:prstGeom>
          <a:noFill/>
        </p:spPr>
        <p:txBody>
          <a:bodyPr wrap="square" anchor="t" lIns="0" rIns="0" tIns="0" bIns="0">
            <a:spAutoFit/>
          </a:bodyPr>
          <a:lstStyle/>
          <a:p>
            <a:pPr algn="ctr">
              <a:lnSpc>
                <a:spcPct val="115000"/>
              </a:lnSpc>
              <a:spcAft>
                <a:spcPts val="800"/>
              </a:spcAft>
            </a:pPr>
            <a:r>
              <a:rPr sz="2400" b="1" i="0">
                <a:solidFill>
                  <a:srgbClr val="B91C1C"/>
                </a:solidFill>
                <a:latin typeface="Segoe UI"/>
              </a:rPr>
              <a:t>NGUY KỊCH</a:t>
            </a:r>
          </a:p>
        </p:txBody>
      </p:sp>
      <p:sp>
        <p:nvSpPr>
          <p:cNvPr id="20" name="TextBox 19"/>
          <p:cNvSpPr txBox="1"/>
          <p:nvPr/>
        </p:nvSpPr>
        <p:spPr>
          <a:xfrm>
            <a:off x="9235440" y="3108960"/>
            <a:ext cx="2148840" cy="914400"/>
          </a:xfrm>
          <a:prstGeom prst="rect">
            <a:avLst/>
          </a:prstGeom>
          <a:noFill/>
        </p:spPr>
        <p:txBody>
          <a:bodyPr wrap="square" anchor="t" lIns="0" rIns="0" tIns="0" bIns="0">
            <a:spAutoFit/>
          </a:bodyPr>
          <a:lstStyle/>
          <a:p>
            <a:pPr algn="ctr">
              <a:lnSpc>
                <a:spcPct val="115000"/>
              </a:lnSpc>
              <a:spcAft>
                <a:spcPts val="800"/>
              </a:spcAft>
            </a:pPr>
            <a:r>
              <a:rPr sz="1700" b="0" i="0">
                <a:solidFill>
                  <a:srgbClr val="475569"/>
                </a:solidFill>
                <a:latin typeface="Segoe UI"/>
              </a:rPr>
              <a:t>có cell vượt 60 °C</a:t>
            </a:r>
          </a:p>
        </p:txBody>
      </p:sp>
      <p:sp>
        <p:nvSpPr>
          <p:cNvPr id="21" name="Rounded Rectangle 20"/>
          <p:cNvSpPr/>
          <p:nvPr/>
        </p:nvSpPr>
        <p:spPr>
          <a:xfrm>
            <a:off x="685800" y="4480560"/>
            <a:ext cx="5303520" cy="1691640"/>
          </a:xfrm>
          <a:prstGeom prst="roundRect">
            <a:avLst>
              <a:gd name="adj" fmla="val 6000"/>
            </a:avLst>
          </a:prstGeom>
          <a:solidFill>
            <a:srgbClr val="F1F5F9"/>
          </a:solidFill>
          <a:ln w="1905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480560"/>
            <a:ext cx="4754880" cy="1691640"/>
          </a:xfrm>
          <a:prstGeom prst="rect">
            <a:avLst/>
          </a:prstGeom>
          <a:noFill/>
        </p:spPr>
        <p:txBody>
          <a:bodyPr wrap="square" anchor="ctr" lIns="0" rIns="0" tIns="0" bIns="0">
            <a:spAutoFit/>
          </a:bodyPr>
          <a:lstStyle/>
          <a:p>
            <a:pPr algn="l">
              <a:lnSpc>
                <a:spcPct val="115000"/>
              </a:lnSpc>
              <a:spcAft>
                <a:spcPts val="800"/>
              </a:spcAft>
            </a:pPr>
            <a:r>
              <a:rPr sz="1800" b="0" i="0">
                <a:solidFill>
                  <a:srgbClr val="0F172A"/>
                </a:solidFill>
                <a:latin typeface="Segoe UI"/>
              </a:rPr>
              <a:t>MẤT CẢM BIẾN báo xanh dương, không phải đỏ.
"Không nhìn thấy pack" ≠ "pack đang nguy hiểm".</a:t>
            </a:r>
          </a:p>
        </p:txBody>
      </p:sp>
      <p:sp>
        <p:nvSpPr>
          <p:cNvPr id="23" name="Rounded Rectangle 22"/>
          <p:cNvSpPr/>
          <p:nvPr/>
        </p:nvSpPr>
        <p:spPr>
          <a:xfrm>
            <a:off x="6263640" y="4480560"/>
            <a:ext cx="5257800" cy="1691640"/>
          </a:xfrm>
          <a:prstGeom prst="roundRect">
            <a:avLst>
              <a:gd name="adj" fmla="val 6000"/>
            </a:avLst>
          </a:prstGeom>
          <a:solidFill>
            <a:srgbClr val="F1F5F9"/>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4480560"/>
            <a:ext cx="4709160" cy="1691640"/>
          </a:xfrm>
          <a:prstGeom prst="rect">
            <a:avLst/>
          </a:prstGeom>
          <a:noFill/>
        </p:spPr>
        <p:txBody>
          <a:bodyPr wrap="square" anchor="ctr" lIns="0" rIns="0" tIns="0" bIns="0">
            <a:spAutoFit/>
          </a:bodyPr>
          <a:lstStyle/>
          <a:p>
            <a:pPr algn="l">
              <a:lnSpc>
                <a:spcPct val="115000"/>
              </a:lnSpc>
              <a:spcAft>
                <a:spcPts val="800"/>
              </a:spcAft>
            </a:pPr>
            <a:r>
              <a:rPr sz="1800" b="0" i="0">
                <a:solidFill>
                  <a:srgbClr val="0F172A"/>
                </a:solidFill>
                <a:latin typeface="Segoe UI"/>
              </a:rPr>
              <a:t>Có nút tắt tiếng — và tắt tiếng không tắt đèn.
Còi không tắt được thì sẽ bị cắt dây.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Hiện tại hệ thống đang chạy ở đâu</a:t>
            </a:r>
          </a:p>
        </p:txBody>
      </p:sp>
      <p:sp>
        <p:nvSpPr>
          <p:cNvPr id="4" name="Rectangle 3"/>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10881360" cy="457200"/>
          </a:xfrm>
          <a:prstGeom prst="rect">
            <a:avLst/>
          </a:prstGeom>
          <a:noFill/>
        </p:spPr>
        <p:txBody>
          <a:bodyPr wrap="square" anchor="t" lIns="0" rIns="0" tIns="0" bIns="0">
            <a:spAutoFit/>
          </a:bodyPr>
          <a:lstStyle/>
          <a:p>
            <a:pPr algn="l">
              <a:lnSpc>
                <a:spcPct val="115000"/>
              </a:lnSpc>
              <a:spcAft>
                <a:spcPts val="800"/>
              </a:spcAft>
            </a:pPr>
            <a:r>
              <a:rPr sz="2000" b="0" i="0">
                <a:solidFill>
                  <a:srgbClr val="475569"/>
                </a:solidFill>
                <a:latin typeface="Segoe UI"/>
              </a:rPr>
              <a:t>Firmware đã nói đúng giao thức WISE-PaaS — đội chỉ đang tự host các lớp bên dưới.</a:t>
            </a:r>
          </a:p>
        </p:txBody>
      </p:sp>
      <p:sp>
        <p:nvSpPr>
          <p:cNvPr id="6" name="Rounded Rectangle 5"/>
          <p:cNvSpPr/>
          <p:nvPr/>
        </p:nvSpPr>
        <p:spPr>
          <a:xfrm>
            <a:off x="640080" y="2194560"/>
            <a:ext cx="2286000" cy="1188720"/>
          </a:xfrm>
          <a:prstGeom prst="roundRect">
            <a:avLst>
              <a:gd name="adj" fmla="val 6000"/>
            </a:avLst>
          </a:prstGeom>
          <a:solidFill>
            <a:srgbClr val="E2E8F0"/>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94560"/>
            <a:ext cx="2103120" cy="1188720"/>
          </a:xfrm>
          <a:prstGeom prst="rect">
            <a:avLst/>
          </a:prstGeom>
          <a:noFill/>
        </p:spPr>
        <p:txBody>
          <a:bodyPr wrap="square" anchor="ctr" lIns="0" rIns="0" tIns="0" bIns="0">
            <a:spAutoFit/>
          </a:bodyPr>
          <a:lstStyle/>
          <a:p>
            <a:pPr algn="ctr">
              <a:lnSpc>
                <a:spcPct val="115000"/>
              </a:lnSpc>
              <a:spcAft>
                <a:spcPts val="200"/>
              </a:spcAft>
            </a:pPr>
            <a:r>
              <a:rPr sz="1700" b="1" i="0">
                <a:solidFill>
                  <a:srgbClr val="0F172A"/>
                </a:solidFill>
                <a:latin typeface="Segoe UI"/>
              </a:rPr>
              <a:t>ESP32-S3</a:t>
            </a:r>
          </a:p>
          <a:p>
            <a:pPr algn="ctr">
              <a:lnSpc>
                <a:spcPct val="115000"/>
              </a:lnSpc>
              <a:spcAft>
                <a:spcPts val="200"/>
              </a:spcAft>
            </a:pPr>
            <a:r>
              <a:rPr sz="1400" b="0" i="0">
                <a:solidFill>
                  <a:srgbClr val="475569"/>
                </a:solidFill>
                <a:latin typeface="Segoe UI"/>
              </a:rPr>
              <a:t>payload WISE-PaaS</a:t>
            </a:r>
          </a:p>
        </p:txBody>
      </p:sp>
      <p:sp>
        <p:nvSpPr>
          <p:cNvPr id="8" name="Rounded Rectangle 7"/>
          <p:cNvSpPr/>
          <p:nvPr/>
        </p:nvSpPr>
        <p:spPr>
          <a:xfrm>
            <a:off x="3200400" y="2194560"/>
            <a:ext cx="2011680" cy="118872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91840" y="2194560"/>
            <a:ext cx="1828800" cy="1188720"/>
          </a:xfrm>
          <a:prstGeom prst="rect">
            <a:avLst/>
          </a:prstGeom>
          <a:noFill/>
        </p:spPr>
        <p:txBody>
          <a:bodyPr wrap="square" anchor="ctr" lIns="0" rIns="0" tIns="0" bIns="0">
            <a:spAutoFit/>
          </a:bodyPr>
          <a:lstStyle/>
          <a:p>
            <a:pPr algn="ctr">
              <a:lnSpc>
                <a:spcPct val="115000"/>
              </a:lnSpc>
              <a:spcAft>
                <a:spcPts val="200"/>
              </a:spcAft>
            </a:pPr>
            <a:r>
              <a:rPr sz="1700" b="1" i="0">
                <a:solidFill>
                  <a:srgbClr val="0F172A"/>
                </a:solidFill>
                <a:latin typeface="Segoe UI"/>
              </a:rPr>
              <a:t>Mosquitto</a:t>
            </a:r>
          </a:p>
          <a:p>
            <a:pPr algn="ctr">
              <a:lnSpc>
                <a:spcPct val="115000"/>
              </a:lnSpc>
              <a:spcAft>
                <a:spcPts val="200"/>
              </a:spcAft>
            </a:pPr>
            <a:r>
              <a:rPr sz="1400" b="0" i="0">
                <a:solidFill>
                  <a:srgbClr val="475569"/>
                </a:solidFill>
                <a:latin typeface="Segoe UI"/>
              </a:rPr>
              <a:t>MQTT broker</a:t>
            </a:r>
          </a:p>
        </p:txBody>
      </p:sp>
      <p:cxnSp>
        <p:nvCxnSpPr>
          <p:cNvPr id="10" name="Connector 9"/>
          <p:cNvCxnSpPr/>
          <p:nvPr/>
        </p:nvCxnSpPr>
        <p:spPr>
          <a:xfrm>
            <a:off x="2926080" y="2788920"/>
            <a:ext cx="274320" cy="0"/>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669280" y="2194560"/>
            <a:ext cx="2011680" cy="118872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2194560"/>
            <a:ext cx="1828800" cy="1188720"/>
          </a:xfrm>
          <a:prstGeom prst="rect">
            <a:avLst/>
          </a:prstGeom>
          <a:noFill/>
        </p:spPr>
        <p:txBody>
          <a:bodyPr wrap="square" anchor="ctr" lIns="0" rIns="0" tIns="0" bIns="0">
            <a:spAutoFit/>
          </a:bodyPr>
          <a:lstStyle/>
          <a:p>
            <a:pPr algn="ctr">
              <a:lnSpc>
                <a:spcPct val="115000"/>
              </a:lnSpc>
              <a:spcAft>
                <a:spcPts val="200"/>
              </a:spcAft>
            </a:pPr>
            <a:r>
              <a:rPr sz="1700" b="1" i="0">
                <a:solidFill>
                  <a:srgbClr val="0F172A"/>
                </a:solidFill>
                <a:latin typeface="Segoe UI"/>
              </a:rPr>
              <a:t>Node-RED</a:t>
            </a:r>
          </a:p>
          <a:p>
            <a:pPr algn="ctr">
              <a:lnSpc>
                <a:spcPct val="115000"/>
              </a:lnSpc>
              <a:spcAft>
                <a:spcPts val="200"/>
              </a:spcAft>
            </a:pPr>
            <a:r>
              <a:rPr sz="1400" b="0" i="0">
                <a:solidFill>
                  <a:srgbClr val="475569"/>
                </a:solidFill>
                <a:latin typeface="Segoe UI"/>
              </a:rPr>
              <a:t>bóc tách + Lớp 2</a:t>
            </a:r>
          </a:p>
        </p:txBody>
      </p:sp>
      <p:cxnSp>
        <p:nvCxnSpPr>
          <p:cNvPr id="13" name="Connector 12"/>
          <p:cNvCxnSpPr/>
          <p:nvPr/>
        </p:nvCxnSpPr>
        <p:spPr>
          <a:xfrm>
            <a:off x="5212080" y="2788920"/>
            <a:ext cx="457200" cy="0"/>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138160" y="2194560"/>
            <a:ext cx="1600200" cy="118872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2194560"/>
            <a:ext cx="1417320" cy="1188720"/>
          </a:xfrm>
          <a:prstGeom prst="rect">
            <a:avLst/>
          </a:prstGeom>
          <a:noFill/>
        </p:spPr>
        <p:txBody>
          <a:bodyPr wrap="square" anchor="ctr" lIns="0" rIns="0" tIns="0" bIns="0">
            <a:spAutoFit/>
          </a:bodyPr>
          <a:lstStyle/>
          <a:p>
            <a:pPr algn="ctr">
              <a:lnSpc>
                <a:spcPct val="115000"/>
              </a:lnSpc>
              <a:spcAft>
                <a:spcPts val="200"/>
              </a:spcAft>
            </a:pPr>
            <a:r>
              <a:rPr sz="1700" b="1" i="0">
                <a:solidFill>
                  <a:srgbClr val="0F172A"/>
                </a:solidFill>
                <a:latin typeface="Segoe UI"/>
              </a:rPr>
              <a:t>InfluxDB</a:t>
            </a:r>
          </a:p>
          <a:p>
            <a:pPr algn="ctr">
              <a:lnSpc>
                <a:spcPct val="115000"/>
              </a:lnSpc>
              <a:spcAft>
                <a:spcPts val="200"/>
              </a:spcAft>
            </a:pPr>
            <a:r>
              <a:rPr sz="1400" b="0" i="0">
                <a:solidFill>
                  <a:srgbClr val="475569"/>
                </a:solidFill>
                <a:latin typeface="Segoe UI"/>
              </a:rPr>
              <a:t>chuỗi thời gian</a:t>
            </a:r>
          </a:p>
        </p:txBody>
      </p:sp>
      <p:cxnSp>
        <p:nvCxnSpPr>
          <p:cNvPr id="16" name="Connector 15"/>
          <p:cNvCxnSpPr/>
          <p:nvPr/>
        </p:nvCxnSpPr>
        <p:spPr>
          <a:xfrm>
            <a:off x="7680960" y="2788920"/>
            <a:ext cx="457200" cy="0"/>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058400" y="2194560"/>
            <a:ext cx="1508760" cy="118872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0" y="2194560"/>
            <a:ext cx="1325880" cy="1188720"/>
          </a:xfrm>
          <a:prstGeom prst="rect">
            <a:avLst/>
          </a:prstGeom>
          <a:noFill/>
        </p:spPr>
        <p:txBody>
          <a:bodyPr wrap="square" anchor="ctr" lIns="0" rIns="0" tIns="0" bIns="0">
            <a:spAutoFit/>
          </a:bodyPr>
          <a:lstStyle/>
          <a:p>
            <a:pPr algn="ctr">
              <a:lnSpc>
                <a:spcPct val="115000"/>
              </a:lnSpc>
              <a:spcAft>
                <a:spcPts val="200"/>
              </a:spcAft>
            </a:pPr>
            <a:r>
              <a:rPr sz="1700" b="1" i="0">
                <a:solidFill>
                  <a:srgbClr val="0F172A"/>
                </a:solidFill>
                <a:latin typeface="Segoe UI"/>
              </a:rPr>
              <a:t>Grafana</a:t>
            </a:r>
          </a:p>
          <a:p>
            <a:pPr algn="ctr">
              <a:lnSpc>
                <a:spcPct val="115000"/>
              </a:lnSpc>
              <a:spcAft>
                <a:spcPts val="200"/>
              </a:spcAft>
            </a:pPr>
            <a:r>
              <a:rPr sz="1400" b="0" i="0">
                <a:solidFill>
                  <a:srgbClr val="475569"/>
                </a:solidFill>
                <a:latin typeface="Segoe UI"/>
              </a:rPr>
              <a:t>dashboard</a:t>
            </a:r>
          </a:p>
        </p:txBody>
      </p:sp>
      <p:cxnSp>
        <p:nvCxnSpPr>
          <p:cNvPr id="19" name="Connector 18"/>
          <p:cNvCxnSpPr/>
          <p:nvPr/>
        </p:nvCxnSpPr>
        <p:spPr>
          <a:xfrm>
            <a:off x="9738360" y="2788920"/>
            <a:ext cx="320040" cy="0"/>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3493008"/>
            <a:ext cx="10972800" cy="365760"/>
          </a:xfrm>
          <a:prstGeom prst="rect">
            <a:avLst/>
          </a:prstGeom>
          <a:noFill/>
        </p:spPr>
        <p:txBody>
          <a:bodyPr wrap="square" anchor="t" lIns="0" rIns="0" tIns="0" bIns="0">
            <a:spAutoFit/>
          </a:bodyPr>
          <a:lstStyle/>
          <a:p>
            <a:pPr algn="ctr">
              <a:lnSpc>
                <a:spcPct val="115000"/>
              </a:lnSpc>
              <a:spcAft>
                <a:spcPts val="800"/>
              </a:spcAft>
            </a:pPr>
            <a:r>
              <a:rPr sz="1600" b="0" i="0">
                <a:solidFill>
                  <a:srgbClr val="B45309"/>
                </a:solidFill>
                <a:latin typeface="Segoe UI"/>
              </a:rPr>
              <a:t>topic  /wisepaas/scada/{nodeId}/data  — đúng định dạng của Edge SDK chính chủ Advantech</a:t>
            </a:r>
          </a:p>
        </p:txBody>
      </p:sp>
      <p:pic>
        <p:nvPicPr>
          <p:cNvPr id="21" name="Picture 20" descr="dashboard_strip.png"/>
          <p:cNvPicPr>
            <a:picLocks noChangeAspect="1"/>
          </p:cNvPicPr>
          <p:nvPr/>
        </p:nvPicPr>
        <p:blipFill>
          <a:blip r:embed="rId2"/>
          <a:stretch>
            <a:fillRect/>
          </a:stretch>
        </p:blipFill>
        <p:spPr>
          <a:xfrm>
            <a:off x="773515" y="3931920"/>
            <a:ext cx="7414090" cy="2377440"/>
          </a:xfrm>
          <a:prstGeom prst="rect">
            <a:avLst/>
          </a:prstGeom>
        </p:spPr>
      </p:pic>
      <p:sp>
        <p:nvSpPr>
          <p:cNvPr id="22" name="Rectangle 21"/>
          <p:cNvSpPr/>
          <p:nvPr/>
        </p:nvSpPr>
        <p:spPr>
          <a:xfrm>
            <a:off x="773515" y="3931920"/>
            <a:ext cx="7414090" cy="2377440"/>
          </a:xfrm>
          <a:prstGeom prst="rect">
            <a:avLst/>
          </a:prstGeom>
          <a:no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0" y="3977639"/>
            <a:ext cx="3063240" cy="2286000"/>
          </a:xfrm>
          <a:prstGeom prst="rect">
            <a:avLst/>
          </a:prstGeom>
          <a:noFill/>
        </p:spPr>
        <p:txBody>
          <a:bodyPr wrap="square" anchor="t" lIns="0" rIns="0" tIns="0" bIns="0">
            <a:spAutoFit/>
          </a:bodyPr>
          <a:lstStyle/>
          <a:p>
            <a:pPr algn="l">
              <a:lnSpc>
                <a:spcPct val="115000"/>
              </a:lnSpc>
              <a:spcAft>
                <a:spcPts val="600"/>
              </a:spcAft>
            </a:pPr>
            <a:r>
              <a:rPr sz="2000" b="1" i="0">
                <a:solidFill>
                  <a:srgbClr val="0F172A"/>
                </a:solidFill>
                <a:latin typeface="Segoe UI"/>
              </a:rPr>
              <a:t>Vì sao đúng bộ này?</a:t>
            </a:r>
          </a:p>
          <a:p>
            <a:pPr algn="l">
              <a:lnSpc>
                <a:spcPct val="115000"/>
              </a:lnSpc>
              <a:spcAft>
                <a:spcPts val="600"/>
              </a:spcAft>
            </a:pPr>
            <a:r>
              <a:rPr sz="600" b="0" i="0">
                <a:solidFill>
                  <a:srgbClr val="0F172A"/>
                </a:solidFill>
                <a:latin typeface="Segoe UI"/>
              </a:rPr>
              <a:t/>
            </a:r>
          </a:p>
          <a:p>
            <a:pPr algn="l">
              <a:lnSpc>
                <a:spcPct val="115000"/>
              </a:lnSpc>
              <a:spcAft>
                <a:spcPts val="600"/>
              </a:spcAft>
            </a:pPr>
            <a:r>
              <a:rPr sz="1700" b="0" i="0">
                <a:solidFill>
                  <a:srgbClr val="475569"/>
                </a:solidFill>
                <a:latin typeface="Segoe UI"/>
              </a:rPr>
              <a:t>Đây chính là các thành phần mà WISE-PaaS dựng trên đó.</a:t>
            </a:r>
          </a:p>
          <a:p>
            <a:pPr algn="l">
              <a:lnSpc>
                <a:spcPct val="115000"/>
              </a:lnSpc>
              <a:spcAft>
                <a:spcPts val="600"/>
              </a:spcAft>
            </a:pPr>
            <a:r>
              <a:rPr sz="600" b="0" i="0">
                <a:solidFill>
                  <a:srgbClr val="0F172A"/>
                </a:solidFill>
                <a:latin typeface="Segoe UI"/>
              </a:rPr>
              <a:t/>
            </a:r>
          </a:p>
          <a:p>
            <a:pPr algn="l">
              <a:lnSpc>
                <a:spcPct val="115000"/>
              </a:lnSpc>
              <a:spcAft>
                <a:spcPts val="600"/>
              </a:spcAft>
            </a:pPr>
            <a:r>
              <a:rPr sz="1700" b="0" i="0">
                <a:solidFill>
                  <a:srgbClr val="0F172A"/>
                </a:solidFill>
                <a:latin typeface="Segoe UI"/>
              </a:rPr>
              <a:t>Không phần nào là giải pháp chống chế phải vứt đi.</a:t>
            </a:r>
          </a:p>
        </p:txBody>
      </p:sp>
      <p:sp>
        <p:nvSpPr>
          <p:cNvPr id="24" name="TextBox 23"/>
          <p:cNvSpPr txBox="1"/>
          <p:nvPr/>
        </p:nvSpPr>
        <p:spPr>
          <a:xfrm>
            <a:off x="685800" y="6355080"/>
            <a:ext cx="10881360" cy="411480"/>
          </a:xfrm>
          <a:prstGeom prst="rect">
            <a:avLst/>
          </a:prstGeom>
          <a:noFill/>
        </p:spPr>
        <p:txBody>
          <a:bodyPr wrap="square" anchor="t" lIns="0" rIns="0" tIns="0" bIns="0">
            <a:spAutoFit/>
          </a:bodyPr>
          <a:lstStyle/>
          <a:p>
            <a:pPr algn="l">
              <a:lnSpc>
                <a:spcPct val="110000"/>
              </a:lnSpc>
              <a:spcAft>
                <a:spcPts val="800"/>
              </a:spcAft>
            </a:pPr>
            <a:r>
              <a:rPr sz="1000" b="0" i="0">
                <a:solidFill>
                  <a:srgbClr val="64748B"/>
                </a:solidFill>
                <a:latin typeface="Segoe UI"/>
              </a:rPr>
              <a:t>Dashboard Grafana của chính đội — số liệu trong ảnh là số mô phỏng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Người vận hành nhìn thấy gì</a:t>
            </a:r>
          </a:p>
        </p:txBody>
      </p:sp>
      <p:sp>
        <p:nvSpPr>
          <p:cNvPr id="4" name="Rectangle 3"/>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10881360" cy="457200"/>
          </a:xfrm>
          <a:prstGeom prst="rect">
            <a:avLst/>
          </a:prstGeom>
          <a:noFill/>
        </p:spPr>
        <p:txBody>
          <a:bodyPr wrap="square" anchor="t" lIns="0" rIns="0" tIns="0" bIns="0">
            <a:spAutoFit/>
          </a:bodyPr>
          <a:lstStyle/>
          <a:p>
            <a:pPr algn="l">
              <a:lnSpc>
                <a:spcPct val="115000"/>
              </a:lnSpc>
              <a:spcAft>
                <a:spcPts val="800"/>
              </a:spcAft>
            </a:pPr>
            <a:r>
              <a:rPr sz="2000" b="0" i="0">
                <a:solidFill>
                  <a:srgbClr val="475569"/>
                </a:solidFill>
                <a:latin typeface="Segoe UI"/>
              </a:rPr>
              <a:t>Ba giây để trả lời: pack có an toàn không, cell nào, và số này có tin được không?</a:t>
            </a:r>
          </a:p>
        </p:txBody>
      </p:sp>
      <p:pic>
        <p:nvPicPr>
          <p:cNvPr id="6" name="Picture 5" descr="dashboard_real.png"/>
          <p:cNvPicPr>
            <a:picLocks noChangeAspect="1"/>
          </p:cNvPicPr>
          <p:nvPr/>
        </p:nvPicPr>
        <p:blipFill>
          <a:blip r:embed="rId2"/>
          <a:stretch>
            <a:fillRect/>
          </a:stretch>
        </p:blipFill>
        <p:spPr>
          <a:xfrm>
            <a:off x="1318906" y="1920240"/>
            <a:ext cx="6323308" cy="4389120"/>
          </a:xfrm>
          <a:prstGeom prst="rect">
            <a:avLst/>
          </a:prstGeom>
        </p:spPr>
      </p:pic>
      <p:sp>
        <p:nvSpPr>
          <p:cNvPr id="7" name="Rectangle 6"/>
          <p:cNvSpPr/>
          <p:nvPr/>
        </p:nvSpPr>
        <p:spPr>
          <a:xfrm>
            <a:off x="1318906" y="1920240"/>
            <a:ext cx="6323308" cy="4389120"/>
          </a:xfrm>
          <a:prstGeom prst="rect">
            <a:avLst/>
          </a:prstGeom>
          <a:no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549640" y="1965960"/>
            <a:ext cx="2999232" cy="137160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2075688"/>
            <a:ext cx="2606040" cy="566928"/>
          </a:xfrm>
          <a:prstGeom prst="rect">
            <a:avLst/>
          </a:prstGeom>
          <a:noFill/>
        </p:spPr>
        <p:txBody>
          <a:bodyPr wrap="square" anchor="t" lIns="0" rIns="0" tIns="0" bIns="0">
            <a:spAutoFit/>
          </a:bodyPr>
          <a:lstStyle/>
          <a:p>
            <a:pPr algn="l">
              <a:lnSpc>
                <a:spcPct val="105000"/>
              </a:lnSpc>
              <a:spcAft>
                <a:spcPts val="800"/>
              </a:spcAft>
            </a:pPr>
            <a:r>
              <a:rPr sz="1700" b="1" i="0">
                <a:solidFill>
                  <a:srgbClr val="B45309"/>
                </a:solidFill>
                <a:latin typeface="Segoe UI"/>
              </a:rPr>
              <a:t>Đọc hàng đầu là đủ</a:t>
            </a:r>
          </a:p>
        </p:txBody>
      </p:sp>
      <p:sp>
        <p:nvSpPr>
          <p:cNvPr id="10" name="TextBox 9"/>
          <p:cNvSpPr txBox="1"/>
          <p:nvPr/>
        </p:nvSpPr>
        <p:spPr>
          <a:xfrm>
            <a:off x="8778240" y="2624328"/>
            <a:ext cx="2606040" cy="658368"/>
          </a:xfrm>
          <a:prstGeom prst="rect">
            <a:avLst/>
          </a:prstGeom>
          <a:noFill/>
        </p:spPr>
        <p:txBody>
          <a:bodyPr wrap="square" anchor="t" lIns="0" rIns="0" tIns="0" bIns="0">
            <a:spAutoFit/>
          </a:bodyPr>
          <a:lstStyle/>
          <a:p>
            <a:pPr algn="l">
              <a:lnSpc>
                <a:spcPct val="112000"/>
              </a:lnSpc>
              <a:spcAft>
                <a:spcPts val="800"/>
              </a:spcAft>
            </a:pPr>
            <a:r>
              <a:rPr sz="1400" b="0" i="0">
                <a:solidFill>
                  <a:srgbClr val="475569"/>
                </a:solidFill>
                <a:latin typeface="Segoe UI"/>
              </a:rPr>
              <a:t>Trạng thái pack, cell đang nghi, cell nóng nhất, cảm biến khoẻ — không phải đọc biểu đồ.</a:t>
            </a:r>
          </a:p>
        </p:txBody>
      </p:sp>
      <p:sp>
        <p:nvSpPr>
          <p:cNvPr id="11" name="Rounded Rectangle 10"/>
          <p:cNvSpPr/>
          <p:nvPr/>
        </p:nvSpPr>
        <p:spPr>
          <a:xfrm>
            <a:off x="8549640" y="3474720"/>
            <a:ext cx="2999232" cy="137160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3584448"/>
            <a:ext cx="2606040" cy="566928"/>
          </a:xfrm>
          <a:prstGeom prst="rect">
            <a:avLst/>
          </a:prstGeom>
          <a:noFill/>
        </p:spPr>
        <p:txBody>
          <a:bodyPr wrap="square" anchor="t" lIns="0" rIns="0" tIns="0" bIns="0">
            <a:spAutoFit/>
          </a:bodyPr>
          <a:lstStyle/>
          <a:p>
            <a:pPr algn="l">
              <a:lnSpc>
                <a:spcPct val="105000"/>
              </a:lnSpc>
              <a:spcAft>
                <a:spcPts val="800"/>
              </a:spcAft>
            </a:pPr>
            <a:r>
              <a:rPr sz="1700" b="1" i="0">
                <a:solidFill>
                  <a:srgbClr val="B45309"/>
                </a:solidFill>
                <a:latin typeface="Segoe UI"/>
              </a:rPr>
              <a:t>Cell #3 lộ ngay</a:t>
            </a:r>
          </a:p>
        </p:txBody>
      </p:sp>
      <p:sp>
        <p:nvSpPr>
          <p:cNvPr id="13" name="TextBox 12"/>
          <p:cNvSpPr txBox="1"/>
          <p:nvPr/>
        </p:nvSpPr>
        <p:spPr>
          <a:xfrm>
            <a:off x="8778240" y="4133088"/>
            <a:ext cx="2606040" cy="658368"/>
          </a:xfrm>
          <a:prstGeom prst="rect">
            <a:avLst/>
          </a:prstGeom>
          <a:noFill/>
        </p:spPr>
        <p:txBody>
          <a:bodyPr wrap="square" anchor="t" lIns="0" rIns="0" tIns="0" bIns="0">
            <a:spAutoFit/>
          </a:bodyPr>
          <a:lstStyle/>
          <a:p>
            <a:pPr algn="l">
              <a:lnSpc>
                <a:spcPct val="112000"/>
              </a:lnSpc>
              <a:spcAft>
                <a:spcPts val="800"/>
              </a:spcAft>
            </a:pPr>
            <a:r>
              <a:rPr sz="1400" b="0" i="0">
                <a:solidFill>
                  <a:srgbClr val="475569"/>
                </a:solidFill>
                <a:latin typeface="Segoe UI"/>
              </a:rPr>
              <a:t>Bar gauge là so sánh không gian, nên cell khác thường thấy ngay.</a:t>
            </a:r>
          </a:p>
        </p:txBody>
      </p:sp>
      <p:sp>
        <p:nvSpPr>
          <p:cNvPr id="14" name="Rounded Rectangle 13"/>
          <p:cNvSpPr/>
          <p:nvPr/>
        </p:nvSpPr>
        <p:spPr>
          <a:xfrm>
            <a:off x="8549640" y="4983480"/>
            <a:ext cx="2999232" cy="137160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5093208"/>
            <a:ext cx="2606040" cy="566928"/>
          </a:xfrm>
          <a:prstGeom prst="rect">
            <a:avLst/>
          </a:prstGeom>
          <a:noFill/>
        </p:spPr>
        <p:txBody>
          <a:bodyPr wrap="square" anchor="t" lIns="0" rIns="0" tIns="0" bIns="0">
            <a:spAutoFit/>
          </a:bodyPr>
          <a:lstStyle/>
          <a:p>
            <a:pPr algn="l">
              <a:lnSpc>
                <a:spcPct val="105000"/>
              </a:lnSpc>
              <a:spcAft>
                <a:spcPts val="800"/>
              </a:spcAft>
            </a:pPr>
            <a:r>
              <a:rPr sz="1700" b="1" i="0">
                <a:solidFill>
                  <a:srgbClr val="B45309"/>
                </a:solidFill>
                <a:latin typeface="Segoe UI"/>
              </a:rPr>
              <a:t>Trung thực trên màn hình</a:t>
            </a:r>
          </a:p>
        </p:txBody>
      </p:sp>
      <p:sp>
        <p:nvSpPr>
          <p:cNvPr id="16" name="TextBox 15"/>
          <p:cNvSpPr txBox="1"/>
          <p:nvPr/>
        </p:nvSpPr>
        <p:spPr>
          <a:xfrm>
            <a:off x="8778240" y="5641848"/>
            <a:ext cx="2606040" cy="658368"/>
          </a:xfrm>
          <a:prstGeom prst="rect">
            <a:avLst/>
          </a:prstGeom>
          <a:noFill/>
        </p:spPr>
        <p:txBody>
          <a:bodyPr wrap="square" anchor="t" lIns="0" rIns="0" tIns="0" bIns="0">
            <a:spAutoFit/>
          </a:bodyPr>
          <a:lstStyle/>
          <a:p>
            <a:pPr algn="l">
              <a:lnSpc>
                <a:spcPct val="112000"/>
              </a:lnSpc>
              <a:spcAft>
                <a:spcPts val="800"/>
              </a:spcAft>
            </a:pPr>
            <a:r>
              <a:rPr sz="1400" b="0" i="0">
                <a:solidFill>
                  <a:srgbClr val="475569"/>
                </a:solidFill>
                <a:latin typeface="Segoe UI"/>
              </a:rPr>
              <a:t>Số nào còn là giả định thì tự khai là giả định.</a:t>
            </a:r>
          </a:p>
        </p:txBody>
      </p:sp>
      <p:sp>
        <p:nvSpPr>
          <p:cNvPr id="17" name="TextBox 16"/>
          <p:cNvSpPr txBox="1"/>
          <p:nvPr/>
        </p:nvSpPr>
        <p:spPr>
          <a:xfrm>
            <a:off x="685800" y="6355080"/>
            <a:ext cx="10881360" cy="411480"/>
          </a:xfrm>
          <a:prstGeom prst="rect">
            <a:avLst/>
          </a:prstGeom>
          <a:noFill/>
        </p:spPr>
        <p:txBody>
          <a:bodyPr wrap="square" anchor="t" lIns="0" rIns="0" tIns="0" bIns="0">
            <a:spAutoFit/>
          </a:bodyPr>
          <a:lstStyle/>
          <a:p>
            <a:pPr algn="l">
              <a:lnSpc>
                <a:spcPct val="110000"/>
              </a:lnSpc>
              <a:spcAft>
                <a:spcPts val="800"/>
              </a:spcAft>
            </a:pPr>
            <a:r>
              <a:rPr sz="1000" b="0" i="0">
                <a:solidFill>
                  <a:srgbClr val="64748B"/>
                </a:solidFill>
                <a:latin typeface="Segoe UI"/>
              </a:rPr>
              <a:t>Dashboard Grafana của chính đội. Số liệu trong ảnh là số mô phỏng để minh hoạ kịch bản.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Nếu được cấp tài khoản WISE-PaaS</a:t>
            </a:r>
          </a:p>
        </p:txBody>
      </p:sp>
      <p:sp>
        <p:nvSpPr>
          <p:cNvPr id="4" name="Rectangle 3"/>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10881360" cy="457200"/>
          </a:xfrm>
          <a:prstGeom prst="rect">
            <a:avLst/>
          </a:prstGeom>
          <a:noFill/>
        </p:spPr>
        <p:txBody>
          <a:bodyPr wrap="square" anchor="t" lIns="0" rIns="0" tIns="0" bIns="0">
            <a:spAutoFit/>
          </a:bodyPr>
          <a:lstStyle/>
          <a:p>
            <a:pPr algn="l">
              <a:lnSpc>
                <a:spcPct val="115000"/>
              </a:lnSpc>
              <a:spcAft>
                <a:spcPts val="800"/>
              </a:spcAft>
            </a:pPr>
            <a:r>
              <a:rPr sz="2000" b="0" i="0">
                <a:solidFill>
                  <a:srgbClr val="475569"/>
                </a:solidFill>
                <a:latin typeface="Segoe UI"/>
              </a:rPr>
              <a:t>Là đổi cấu hình, không phải viết lại — firmware không đổi một dòng nào.</a:t>
            </a:r>
          </a:p>
        </p:txBody>
      </p:sp>
      <p:sp>
        <p:nvSpPr>
          <p:cNvPr id="6" name="Rounded Rectangle 5"/>
          <p:cNvSpPr/>
          <p:nvPr/>
        </p:nvSpPr>
        <p:spPr>
          <a:xfrm>
            <a:off x="640080" y="2194560"/>
            <a:ext cx="2651760" cy="1371600"/>
          </a:xfrm>
          <a:prstGeom prst="roundRect">
            <a:avLst>
              <a:gd name="adj" fmla="val 6000"/>
            </a:avLst>
          </a:prstGeom>
          <a:solidFill>
            <a:srgbClr val="E2E8F0"/>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94560"/>
            <a:ext cx="2468880" cy="1371600"/>
          </a:xfrm>
          <a:prstGeom prst="rect">
            <a:avLst/>
          </a:prstGeom>
          <a:noFill/>
        </p:spPr>
        <p:txBody>
          <a:bodyPr wrap="square" anchor="ctr" lIns="0" rIns="0" tIns="0" bIns="0">
            <a:spAutoFit/>
          </a:bodyPr>
          <a:lstStyle/>
          <a:p>
            <a:pPr algn="ctr">
              <a:lnSpc>
                <a:spcPct val="115000"/>
              </a:lnSpc>
              <a:spcAft>
                <a:spcPts val="200"/>
              </a:spcAft>
            </a:pPr>
            <a:r>
              <a:rPr sz="1800" b="1" i="0">
                <a:solidFill>
                  <a:srgbClr val="0F172A"/>
                </a:solidFill>
                <a:latin typeface="Segoe UI"/>
              </a:rPr>
              <a:t>ESP32-S3</a:t>
            </a:r>
          </a:p>
          <a:p>
            <a:pPr algn="ctr">
              <a:lnSpc>
                <a:spcPct val="115000"/>
              </a:lnSpc>
              <a:spcAft>
                <a:spcPts val="200"/>
              </a:spcAft>
            </a:pPr>
            <a:r>
              <a:rPr sz="1500" b="0" i="0">
                <a:solidFill>
                  <a:srgbClr val="475569"/>
                </a:solidFill>
                <a:latin typeface="Segoe UI"/>
              </a:rPr>
              <a:t>firmware không đổi</a:t>
            </a:r>
          </a:p>
          <a:p>
            <a:pPr algn="ctr">
              <a:lnSpc>
                <a:spcPct val="115000"/>
              </a:lnSpc>
              <a:spcAft>
                <a:spcPts val="200"/>
              </a:spcAft>
            </a:pPr>
            <a:r>
              <a:rPr sz="1500" b="0" i="0">
                <a:solidFill>
                  <a:srgbClr val="475569"/>
                </a:solidFill>
                <a:latin typeface="Segoe UI"/>
              </a:rPr>
              <a:t>cùng payload, cùng topic</a:t>
            </a:r>
          </a:p>
        </p:txBody>
      </p:sp>
      <p:sp>
        <p:nvSpPr>
          <p:cNvPr id="8" name="Rounded Rectangle 7"/>
          <p:cNvSpPr/>
          <p:nvPr/>
        </p:nvSpPr>
        <p:spPr>
          <a:xfrm>
            <a:off x="3977639" y="2194560"/>
            <a:ext cx="3017520" cy="1371600"/>
          </a:xfrm>
          <a:prstGeom prst="roundRect">
            <a:avLst>
              <a:gd name="adj" fmla="val 6000"/>
            </a:avLst>
          </a:prstGeom>
          <a:solidFill>
            <a:srgbClr val="E2E8F0"/>
          </a:solidFill>
          <a:ln w="1905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69079" y="2194560"/>
            <a:ext cx="2834640" cy="1371600"/>
          </a:xfrm>
          <a:prstGeom prst="rect">
            <a:avLst/>
          </a:prstGeom>
          <a:noFill/>
        </p:spPr>
        <p:txBody>
          <a:bodyPr wrap="square" anchor="ctr" lIns="0" rIns="0" tIns="0" bIns="0">
            <a:spAutoFit/>
          </a:bodyPr>
          <a:lstStyle/>
          <a:p>
            <a:pPr algn="ctr">
              <a:lnSpc>
                <a:spcPct val="115000"/>
              </a:lnSpc>
              <a:spcAft>
                <a:spcPts val="200"/>
              </a:spcAft>
            </a:pPr>
            <a:r>
              <a:rPr sz="1800" b="1" i="0">
                <a:solidFill>
                  <a:srgbClr val="0F172A"/>
                </a:solidFill>
                <a:latin typeface="Segoe UI"/>
              </a:rPr>
              <a:t>WISE-PaaS IoT Hub</a:t>
            </a:r>
          </a:p>
          <a:p>
            <a:pPr algn="ctr">
              <a:lnSpc>
                <a:spcPct val="115000"/>
              </a:lnSpc>
              <a:spcAft>
                <a:spcPts val="200"/>
              </a:spcAft>
            </a:pPr>
            <a:r>
              <a:rPr sz="1500" b="0" i="0">
                <a:solidFill>
                  <a:srgbClr val="475569"/>
                </a:solidFill>
                <a:latin typeface="Segoe UI"/>
              </a:rPr>
              <a:t>quản lý thiết bị + TLS</a:t>
            </a:r>
          </a:p>
        </p:txBody>
      </p:sp>
      <p:sp>
        <p:nvSpPr>
          <p:cNvPr id="10" name="Rounded Rectangle 9"/>
          <p:cNvSpPr/>
          <p:nvPr/>
        </p:nvSpPr>
        <p:spPr>
          <a:xfrm>
            <a:off x="7863840" y="2194560"/>
            <a:ext cx="3703320" cy="621792"/>
          </a:xfrm>
          <a:prstGeom prst="roundRect">
            <a:avLst>
              <a:gd name="adj" fmla="val 6000"/>
            </a:avLst>
          </a:prstGeom>
          <a:solidFill>
            <a:srgbClr val="F1F5F9"/>
          </a:solidFill>
          <a:ln w="1905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0" y="2194560"/>
            <a:ext cx="3520440" cy="621792"/>
          </a:xfrm>
          <a:prstGeom prst="rect">
            <a:avLst/>
          </a:prstGeom>
          <a:noFill/>
        </p:spPr>
        <p:txBody>
          <a:bodyPr wrap="square" anchor="ctr" lIns="0" rIns="0" tIns="0" bIns="0">
            <a:spAutoFit/>
          </a:bodyPr>
          <a:lstStyle/>
          <a:p>
            <a:pPr algn="ctr">
              <a:lnSpc>
                <a:spcPct val="115000"/>
              </a:lnSpc>
              <a:spcAft>
                <a:spcPts val="200"/>
              </a:spcAft>
            </a:pPr>
            <a:r>
              <a:rPr sz="1700" b="1" i="0">
                <a:solidFill>
                  <a:srgbClr val="0F172A"/>
                </a:solidFill>
                <a:latin typeface="Segoe UI"/>
              </a:rPr>
              <a:t>WISE-PaaS Dashboard</a:t>
            </a:r>
          </a:p>
        </p:txBody>
      </p:sp>
      <p:sp>
        <p:nvSpPr>
          <p:cNvPr id="12" name="Rounded Rectangle 11"/>
          <p:cNvSpPr/>
          <p:nvPr/>
        </p:nvSpPr>
        <p:spPr>
          <a:xfrm>
            <a:off x="7863840" y="2944368"/>
            <a:ext cx="3703320" cy="621792"/>
          </a:xfrm>
          <a:prstGeom prst="roundRect">
            <a:avLst>
              <a:gd name="adj" fmla="val 6000"/>
            </a:avLst>
          </a:prstGeom>
          <a:solidFill>
            <a:srgbClr val="F1F5F9"/>
          </a:solidFill>
          <a:ln w="1905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0" y="2944368"/>
            <a:ext cx="3520440" cy="621792"/>
          </a:xfrm>
          <a:prstGeom prst="rect">
            <a:avLst/>
          </a:prstGeom>
          <a:noFill/>
        </p:spPr>
        <p:txBody>
          <a:bodyPr wrap="square" anchor="ctr" lIns="0" rIns="0" tIns="0" bIns="0">
            <a:spAutoFit/>
          </a:bodyPr>
          <a:lstStyle/>
          <a:p>
            <a:pPr algn="ctr">
              <a:lnSpc>
                <a:spcPct val="115000"/>
              </a:lnSpc>
              <a:spcAft>
                <a:spcPts val="200"/>
              </a:spcAft>
            </a:pPr>
            <a:r>
              <a:rPr sz="1700" b="1" i="0">
                <a:solidFill>
                  <a:srgbClr val="0F172A"/>
                </a:solidFill>
                <a:latin typeface="Segoe UI"/>
              </a:rPr>
              <a:t>AFS — nơi chạy mô hình Lớp 2</a:t>
            </a:r>
          </a:p>
        </p:txBody>
      </p:sp>
      <p:cxnSp>
        <p:nvCxnSpPr>
          <p:cNvPr id="14" name="Connector 13"/>
          <p:cNvCxnSpPr/>
          <p:nvPr/>
        </p:nvCxnSpPr>
        <p:spPr>
          <a:xfrm>
            <a:off x="3291840" y="2880360"/>
            <a:ext cx="685799" cy="0"/>
          </a:xfrm>
          <a:prstGeom prst="line">
            <a:avLst/>
          </a:prstGeom>
          <a:ln w="285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995160" y="2505456"/>
            <a:ext cx="548640" cy="374904"/>
          </a:xfrm>
          <a:prstGeom prst="line">
            <a:avLst/>
          </a:prstGeom>
          <a:ln w="22225">
            <a:solidFill>
              <a:srgbClr val="0369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995160" y="2880360"/>
            <a:ext cx="548640" cy="374904"/>
          </a:xfrm>
          <a:prstGeom prst="line">
            <a:avLst/>
          </a:prstGeom>
          <a:ln w="22225">
            <a:solidFill>
              <a:srgbClr val="0369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108960" y="3639312"/>
            <a:ext cx="4754880" cy="365760"/>
          </a:xfrm>
          <a:prstGeom prst="rect">
            <a:avLst/>
          </a:prstGeom>
          <a:noFill/>
        </p:spPr>
        <p:txBody>
          <a:bodyPr wrap="square" anchor="t" lIns="0" rIns="0" tIns="0" bIns="0">
            <a:spAutoFit/>
          </a:bodyPr>
          <a:lstStyle/>
          <a:p>
            <a:pPr algn="ctr">
              <a:lnSpc>
                <a:spcPct val="115000"/>
              </a:lnSpc>
              <a:spcAft>
                <a:spcPts val="800"/>
              </a:spcAft>
            </a:pPr>
            <a:r>
              <a:rPr sz="1500" b="0" i="0">
                <a:solidFill>
                  <a:srgbClr val="B45309"/>
                </a:solidFill>
                <a:latin typeface="Segoe UI"/>
              </a:rPr>
              <a:t>chỉ đổi host broker + credential</a:t>
            </a:r>
          </a:p>
        </p:txBody>
      </p:sp>
      <p:sp>
        <p:nvSpPr>
          <p:cNvPr id="18" name="Rounded Rectangle 17"/>
          <p:cNvSpPr/>
          <p:nvPr/>
        </p:nvSpPr>
        <p:spPr>
          <a:xfrm>
            <a:off x="640080" y="4160520"/>
            <a:ext cx="3474720" cy="201168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315968"/>
            <a:ext cx="2926080" cy="685800"/>
          </a:xfrm>
          <a:prstGeom prst="rect">
            <a:avLst/>
          </a:prstGeom>
          <a:noFill/>
        </p:spPr>
        <p:txBody>
          <a:bodyPr wrap="square" anchor="t" lIns="0" rIns="0" tIns="0" bIns="0">
            <a:spAutoFit/>
          </a:bodyPr>
          <a:lstStyle/>
          <a:p>
            <a:pPr algn="l">
              <a:lnSpc>
                <a:spcPct val="105000"/>
              </a:lnSpc>
              <a:spcAft>
                <a:spcPts val="800"/>
              </a:spcAft>
            </a:pPr>
            <a:r>
              <a:rPr sz="1800" b="1" i="0">
                <a:solidFill>
                  <a:srgbClr val="0369A1"/>
                </a:solidFill>
                <a:latin typeface="Segoe UI"/>
              </a:rPr>
              <a:t>Quản lý thiết bị</a:t>
            </a:r>
          </a:p>
        </p:txBody>
      </p:sp>
      <p:sp>
        <p:nvSpPr>
          <p:cNvPr id="20" name="TextBox 19"/>
          <p:cNvSpPr txBox="1"/>
          <p:nvPr/>
        </p:nvSpPr>
        <p:spPr>
          <a:xfrm>
            <a:off x="914400" y="5029200"/>
            <a:ext cx="2971800" cy="1097280"/>
          </a:xfrm>
          <a:prstGeom prst="rect">
            <a:avLst/>
          </a:prstGeom>
          <a:noFill/>
        </p:spPr>
        <p:txBody>
          <a:bodyPr wrap="square" anchor="t" lIns="0" rIns="0" tIns="0" bIns="0">
            <a:spAutoFit/>
          </a:bodyPr>
          <a:lstStyle/>
          <a:p>
            <a:pPr algn="l">
              <a:lnSpc>
                <a:spcPct val="118000"/>
              </a:lnSpc>
              <a:spcAft>
                <a:spcPts val="800"/>
              </a:spcAft>
            </a:pPr>
            <a:r>
              <a:rPr sz="1500" b="0" i="0">
                <a:solidFill>
                  <a:srgbClr val="475569"/>
                </a:solidFill>
                <a:latin typeface="Segoe UI"/>
              </a:rPr>
              <a:t>Cấp phát, TLS và cập nhật OTA do nền tảng lo.</a:t>
            </a:r>
          </a:p>
        </p:txBody>
      </p:sp>
      <p:sp>
        <p:nvSpPr>
          <p:cNvPr id="21" name="Rounded Rectangle 20"/>
          <p:cNvSpPr/>
          <p:nvPr/>
        </p:nvSpPr>
        <p:spPr>
          <a:xfrm>
            <a:off x="4389119" y="4160520"/>
            <a:ext cx="3474720" cy="201168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63439" y="4315968"/>
            <a:ext cx="2926080" cy="685800"/>
          </a:xfrm>
          <a:prstGeom prst="rect">
            <a:avLst/>
          </a:prstGeom>
          <a:noFill/>
        </p:spPr>
        <p:txBody>
          <a:bodyPr wrap="square" anchor="t" lIns="0" rIns="0" tIns="0" bIns="0">
            <a:spAutoFit/>
          </a:bodyPr>
          <a:lstStyle/>
          <a:p>
            <a:pPr algn="l">
              <a:lnSpc>
                <a:spcPct val="105000"/>
              </a:lnSpc>
              <a:spcAft>
                <a:spcPts val="800"/>
              </a:spcAft>
            </a:pPr>
            <a:r>
              <a:rPr sz="1800" b="1" i="0">
                <a:solidFill>
                  <a:srgbClr val="0369A1"/>
                </a:solidFill>
                <a:latin typeface="Segoe UI"/>
              </a:rPr>
              <a:t>Dashboard &amp; cảnh báo</a:t>
            </a:r>
          </a:p>
        </p:txBody>
      </p:sp>
      <p:sp>
        <p:nvSpPr>
          <p:cNvPr id="23" name="TextBox 22"/>
          <p:cNvSpPr txBox="1"/>
          <p:nvPr/>
        </p:nvSpPr>
        <p:spPr>
          <a:xfrm>
            <a:off x="4663439" y="5029200"/>
            <a:ext cx="2971800" cy="1097280"/>
          </a:xfrm>
          <a:prstGeom prst="rect">
            <a:avLst/>
          </a:prstGeom>
          <a:noFill/>
        </p:spPr>
        <p:txBody>
          <a:bodyPr wrap="square" anchor="t" lIns="0" rIns="0" tIns="0" bIns="0">
            <a:spAutoFit/>
          </a:bodyPr>
          <a:lstStyle/>
          <a:p>
            <a:pPr algn="l">
              <a:lnSpc>
                <a:spcPct val="118000"/>
              </a:lnSpc>
              <a:spcAft>
                <a:spcPts val="800"/>
              </a:spcAft>
            </a:pPr>
            <a:r>
              <a:rPr sz="1500" b="0" i="0">
                <a:solidFill>
                  <a:srgbClr val="475569"/>
                </a:solidFill>
                <a:latin typeface="Segoe UI"/>
              </a:rPr>
              <a:t>WISE-PaaS Dashboard thay cho Grafana của đội.</a:t>
            </a:r>
          </a:p>
        </p:txBody>
      </p:sp>
      <p:sp>
        <p:nvSpPr>
          <p:cNvPr id="24" name="Rounded Rectangle 23"/>
          <p:cNvSpPr/>
          <p:nvPr/>
        </p:nvSpPr>
        <p:spPr>
          <a:xfrm>
            <a:off x="8138158" y="4160520"/>
            <a:ext cx="3474720" cy="201168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78" y="4315968"/>
            <a:ext cx="2926080" cy="685800"/>
          </a:xfrm>
          <a:prstGeom prst="rect">
            <a:avLst/>
          </a:prstGeom>
          <a:noFill/>
        </p:spPr>
        <p:txBody>
          <a:bodyPr wrap="square" anchor="t" lIns="0" rIns="0" tIns="0" bIns="0">
            <a:spAutoFit/>
          </a:bodyPr>
          <a:lstStyle/>
          <a:p>
            <a:pPr algn="l">
              <a:lnSpc>
                <a:spcPct val="105000"/>
              </a:lnSpc>
              <a:spcAft>
                <a:spcPts val="800"/>
              </a:spcAft>
            </a:pPr>
            <a:r>
              <a:rPr sz="1800" b="1" i="0">
                <a:solidFill>
                  <a:srgbClr val="0369A1"/>
                </a:solidFill>
                <a:latin typeface="Segoe UI"/>
              </a:rPr>
              <a:t>AFS cho Lớp 2</a:t>
            </a:r>
          </a:p>
        </p:txBody>
      </p:sp>
      <p:sp>
        <p:nvSpPr>
          <p:cNvPr id="26" name="TextBox 25"/>
          <p:cNvSpPr txBox="1"/>
          <p:nvPr/>
        </p:nvSpPr>
        <p:spPr>
          <a:xfrm>
            <a:off x="8412478" y="5029200"/>
            <a:ext cx="2971800" cy="1097280"/>
          </a:xfrm>
          <a:prstGeom prst="rect">
            <a:avLst/>
          </a:prstGeom>
          <a:noFill/>
        </p:spPr>
        <p:txBody>
          <a:bodyPr wrap="square" anchor="t" lIns="0" rIns="0" tIns="0" bIns="0">
            <a:spAutoFit/>
          </a:bodyPr>
          <a:lstStyle/>
          <a:p>
            <a:pPr algn="l">
              <a:lnSpc>
                <a:spcPct val="118000"/>
              </a:lnSpc>
              <a:spcAft>
                <a:spcPts val="800"/>
              </a:spcAft>
            </a:pPr>
            <a:r>
              <a:rPr sz="1500" b="0" i="0">
                <a:solidFill>
                  <a:srgbClr val="475569"/>
                </a:solidFill>
                <a:latin typeface="Segoe UI"/>
              </a:rPr>
              <a:t>Huấn luyện lại, triển khai mà không đụng vào xe nào.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harging.jpg"/>
          <p:cNvPicPr>
            <a:picLocks noChangeAspect="1"/>
          </p:cNvPicPr>
          <p:nvPr/>
        </p:nvPicPr>
        <p:blipFill>
          <a:blip r:embed="rId2"/>
          <a:srcRect l="27835" r="27835"/>
          <a:stretch>
            <a:fillRect/>
          </a:stretch>
        </p:blipFill>
        <p:spPr>
          <a:xfrm>
            <a:off x="8138160" y="0"/>
            <a:ext cx="4053535" cy="6858000"/>
          </a:xfrm>
          <a:prstGeom prst="rect">
            <a:avLst/>
          </a:prstGeom>
        </p:spPr>
      </p:pic>
      <p:sp>
        <p:nvSpPr>
          <p:cNvPr id="4" name="TextBox 3"/>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Demo trực tiếp — 90 giây</a:t>
            </a:r>
          </a:p>
        </p:txBody>
      </p:sp>
      <p:sp>
        <p:nvSpPr>
          <p:cNvPr id="5" name="Rectangle 4"/>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85800" y="1874519"/>
            <a:ext cx="475488" cy="47548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74519"/>
            <a:ext cx="475488" cy="475488"/>
          </a:xfrm>
          <a:prstGeom prst="rect">
            <a:avLst/>
          </a:prstGeom>
          <a:noFill/>
        </p:spPr>
        <p:txBody>
          <a:bodyPr wrap="square" anchor="ctr" lIns="0" rIns="0" tIns="0" bIns="0">
            <a:spAutoFit/>
          </a:bodyPr>
          <a:lstStyle/>
          <a:p>
            <a:pPr algn="ctr">
              <a:lnSpc>
                <a:spcPct val="115000"/>
              </a:lnSpc>
              <a:spcAft>
                <a:spcPts val="800"/>
              </a:spcAft>
            </a:pPr>
            <a:r>
              <a:rPr sz="1700" b="1" i="0">
                <a:solidFill>
                  <a:srgbClr val="FFFFFF"/>
                </a:solidFill>
                <a:latin typeface="Segoe UI"/>
              </a:rPr>
              <a:t>1</a:t>
            </a:r>
          </a:p>
        </p:txBody>
      </p:sp>
      <p:sp>
        <p:nvSpPr>
          <p:cNvPr id="8" name="TextBox 7"/>
          <p:cNvSpPr txBox="1"/>
          <p:nvPr/>
        </p:nvSpPr>
        <p:spPr>
          <a:xfrm>
            <a:off x="1371600" y="1828799"/>
            <a:ext cx="6309360" cy="777240"/>
          </a:xfrm>
          <a:prstGeom prst="rect">
            <a:avLst/>
          </a:prstGeom>
          <a:noFill/>
        </p:spPr>
        <p:txBody>
          <a:bodyPr wrap="square" anchor="t" lIns="0" rIns="0" tIns="0" bIns="0">
            <a:spAutoFit/>
          </a:bodyPr>
          <a:lstStyle/>
          <a:p>
            <a:pPr algn="l">
              <a:lnSpc>
                <a:spcPct val="118000"/>
              </a:lnSpc>
              <a:spcAft>
                <a:spcPts val="800"/>
              </a:spcAft>
            </a:pPr>
            <a:r>
              <a:rPr sz="1900" b="0" i="0">
                <a:solidFill>
                  <a:srgbClr val="0F172A"/>
                </a:solidFill>
                <a:latin typeface="Segoe UI"/>
              </a:rPr>
              <a:t>Dashboard đang chảy nhiệt độ từng cell theo thời gian thực.</a:t>
            </a:r>
          </a:p>
        </p:txBody>
      </p:sp>
      <p:sp>
        <p:nvSpPr>
          <p:cNvPr id="9" name="Oval 8"/>
          <p:cNvSpPr/>
          <p:nvPr/>
        </p:nvSpPr>
        <p:spPr>
          <a:xfrm>
            <a:off x="685800" y="2697479"/>
            <a:ext cx="475488" cy="47548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697479"/>
            <a:ext cx="475488" cy="475488"/>
          </a:xfrm>
          <a:prstGeom prst="rect">
            <a:avLst/>
          </a:prstGeom>
          <a:noFill/>
        </p:spPr>
        <p:txBody>
          <a:bodyPr wrap="square" anchor="ctr" lIns="0" rIns="0" tIns="0" bIns="0">
            <a:spAutoFit/>
          </a:bodyPr>
          <a:lstStyle/>
          <a:p>
            <a:pPr algn="ctr">
              <a:lnSpc>
                <a:spcPct val="115000"/>
              </a:lnSpc>
              <a:spcAft>
                <a:spcPts val="800"/>
              </a:spcAft>
            </a:pPr>
            <a:r>
              <a:rPr sz="1700" b="1" i="0">
                <a:solidFill>
                  <a:srgbClr val="FFFFFF"/>
                </a:solidFill>
                <a:latin typeface="Segoe UI"/>
              </a:rPr>
              <a:t>2</a:t>
            </a:r>
          </a:p>
        </p:txBody>
      </p:sp>
      <p:sp>
        <p:nvSpPr>
          <p:cNvPr id="11" name="TextBox 10"/>
          <p:cNvSpPr txBox="1"/>
          <p:nvPr/>
        </p:nvSpPr>
        <p:spPr>
          <a:xfrm>
            <a:off x="1371600" y="2651759"/>
            <a:ext cx="6309360" cy="777240"/>
          </a:xfrm>
          <a:prstGeom prst="rect">
            <a:avLst/>
          </a:prstGeom>
          <a:noFill/>
        </p:spPr>
        <p:txBody>
          <a:bodyPr wrap="square" anchor="t" lIns="0" rIns="0" tIns="0" bIns="0">
            <a:spAutoFit/>
          </a:bodyPr>
          <a:lstStyle/>
          <a:p>
            <a:pPr algn="l">
              <a:lnSpc>
                <a:spcPct val="118000"/>
              </a:lnSpc>
              <a:spcAft>
                <a:spcPts val="800"/>
              </a:spcAft>
            </a:pPr>
            <a:r>
              <a:rPr sz="1900" b="0" i="0">
                <a:solidFill>
                  <a:srgbClr val="0F172A"/>
                </a:solidFill>
                <a:latin typeface="Segoe UI"/>
              </a:rPr>
              <a:t>Rút mạng ngay trước mặt giám khảo.</a:t>
            </a:r>
          </a:p>
        </p:txBody>
      </p:sp>
      <p:sp>
        <p:nvSpPr>
          <p:cNvPr id="12" name="Oval 11"/>
          <p:cNvSpPr/>
          <p:nvPr/>
        </p:nvSpPr>
        <p:spPr>
          <a:xfrm>
            <a:off x="685800" y="3520439"/>
            <a:ext cx="475488" cy="47548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520439"/>
            <a:ext cx="475488" cy="475488"/>
          </a:xfrm>
          <a:prstGeom prst="rect">
            <a:avLst/>
          </a:prstGeom>
          <a:noFill/>
        </p:spPr>
        <p:txBody>
          <a:bodyPr wrap="square" anchor="ctr" lIns="0" rIns="0" tIns="0" bIns="0">
            <a:spAutoFit/>
          </a:bodyPr>
          <a:lstStyle/>
          <a:p>
            <a:pPr algn="ctr">
              <a:lnSpc>
                <a:spcPct val="115000"/>
              </a:lnSpc>
              <a:spcAft>
                <a:spcPts val="800"/>
              </a:spcAft>
            </a:pPr>
            <a:r>
              <a:rPr sz="1700" b="1" i="0">
                <a:solidFill>
                  <a:srgbClr val="FFFFFF"/>
                </a:solidFill>
                <a:latin typeface="Segoe UI"/>
              </a:rPr>
              <a:t>3</a:t>
            </a:r>
          </a:p>
        </p:txBody>
      </p:sp>
      <p:sp>
        <p:nvSpPr>
          <p:cNvPr id="14" name="TextBox 13"/>
          <p:cNvSpPr txBox="1"/>
          <p:nvPr/>
        </p:nvSpPr>
        <p:spPr>
          <a:xfrm>
            <a:off x="1371600" y="3474719"/>
            <a:ext cx="6309360" cy="777240"/>
          </a:xfrm>
          <a:prstGeom prst="rect">
            <a:avLst/>
          </a:prstGeom>
          <a:noFill/>
        </p:spPr>
        <p:txBody>
          <a:bodyPr wrap="square" anchor="t" lIns="0" rIns="0" tIns="0" bIns="0">
            <a:spAutoFit/>
          </a:bodyPr>
          <a:lstStyle/>
          <a:p>
            <a:pPr algn="l">
              <a:lnSpc>
                <a:spcPct val="118000"/>
              </a:lnSpc>
              <a:spcAft>
                <a:spcPts val="800"/>
              </a:spcAft>
            </a:pPr>
            <a:r>
              <a:rPr sz="1900" b="0" i="0">
                <a:solidFill>
                  <a:srgbClr val="0F172A"/>
                </a:solidFill>
                <a:latin typeface="Segoe UI"/>
              </a:rPr>
              <a:t>Sưởi một cell bằng điện trở.</a:t>
            </a:r>
          </a:p>
        </p:txBody>
      </p:sp>
      <p:sp>
        <p:nvSpPr>
          <p:cNvPr id="15" name="Oval 14"/>
          <p:cNvSpPr/>
          <p:nvPr/>
        </p:nvSpPr>
        <p:spPr>
          <a:xfrm>
            <a:off x="685800" y="4343399"/>
            <a:ext cx="475488" cy="475488"/>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343399"/>
            <a:ext cx="475488" cy="475488"/>
          </a:xfrm>
          <a:prstGeom prst="rect">
            <a:avLst/>
          </a:prstGeom>
          <a:noFill/>
        </p:spPr>
        <p:txBody>
          <a:bodyPr wrap="square" anchor="ctr" lIns="0" rIns="0" tIns="0" bIns="0">
            <a:spAutoFit/>
          </a:bodyPr>
          <a:lstStyle/>
          <a:p>
            <a:pPr algn="ctr">
              <a:lnSpc>
                <a:spcPct val="115000"/>
              </a:lnSpc>
              <a:spcAft>
                <a:spcPts val="800"/>
              </a:spcAft>
            </a:pPr>
            <a:r>
              <a:rPr sz="1700" b="1" i="0">
                <a:solidFill>
                  <a:srgbClr val="FFFFFF"/>
                </a:solidFill>
                <a:latin typeface="Segoe UI"/>
              </a:rPr>
              <a:t>4</a:t>
            </a:r>
          </a:p>
        </p:txBody>
      </p:sp>
      <p:sp>
        <p:nvSpPr>
          <p:cNvPr id="17" name="TextBox 16"/>
          <p:cNvSpPr txBox="1"/>
          <p:nvPr/>
        </p:nvSpPr>
        <p:spPr>
          <a:xfrm>
            <a:off x="1371600" y="4297679"/>
            <a:ext cx="6309360" cy="777240"/>
          </a:xfrm>
          <a:prstGeom prst="rect">
            <a:avLst/>
          </a:prstGeom>
          <a:noFill/>
        </p:spPr>
        <p:txBody>
          <a:bodyPr wrap="square" anchor="t" lIns="0" rIns="0" tIns="0" bIns="0">
            <a:spAutoFit/>
          </a:bodyPr>
          <a:lstStyle/>
          <a:p>
            <a:pPr algn="l">
              <a:lnSpc>
                <a:spcPct val="118000"/>
              </a:lnSpc>
              <a:spcAft>
                <a:spcPts val="800"/>
              </a:spcAft>
            </a:pPr>
            <a:r>
              <a:rPr sz="1900" b="1" i="0">
                <a:solidFill>
                  <a:srgbClr val="B91C1C"/>
                </a:solidFill>
                <a:latin typeface="Segoe UI"/>
              </a:rPr>
              <a:t>Module phát hiện và kêu còi — vẫn đang mất mạng.</a:t>
            </a:r>
          </a:p>
        </p:txBody>
      </p:sp>
      <p:sp>
        <p:nvSpPr>
          <p:cNvPr id="18" name="Oval 17"/>
          <p:cNvSpPr/>
          <p:nvPr/>
        </p:nvSpPr>
        <p:spPr>
          <a:xfrm>
            <a:off x="685800" y="5166359"/>
            <a:ext cx="475488" cy="47548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166359"/>
            <a:ext cx="475488" cy="475488"/>
          </a:xfrm>
          <a:prstGeom prst="rect">
            <a:avLst/>
          </a:prstGeom>
          <a:noFill/>
        </p:spPr>
        <p:txBody>
          <a:bodyPr wrap="square" anchor="ctr" lIns="0" rIns="0" tIns="0" bIns="0">
            <a:spAutoFit/>
          </a:bodyPr>
          <a:lstStyle/>
          <a:p>
            <a:pPr algn="ctr">
              <a:lnSpc>
                <a:spcPct val="115000"/>
              </a:lnSpc>
              <a:spcAft>
                <a:spcPts val="800"/>
              </a:spcAft>
            </a:pPr>
            <a:r>
              <a:rPr sz="1700" b="1" i="0">
                <a:solidFill>
                  <a:srgbClr val="FFFFFF"/>
                </a:solidFill>
                <a:latin typeface="Segoe UI"/>
              </a:rPr>
              <a:t>5</a:t>
            </a:r>
          </a:p>
        </p:txBody>
      </p:sp>
      <p:sp>
        <p:nvSpPr>
          <p:cNvPr id="20" name="TextBox 19"/>
          <p:cNvSpPr txBox="1"/>
          <p:nvPr/>
        </p:nvSpPr>
        <p:spPr>
          <a:xfrm>
            <a:off x="1371600" y="5120639"/>
            <a:ext cx="6309360" cy="777240"/>
          </a:xfrm>
          <a:prstGeom prst="rect">
            <a:avLst/>
          </a:prstGeom>
          <a:noFill/>
        </p:spPr>
        <p:txBody>
          <a:bodyPr wrap="square" anchor="t" lIns="0" rIns="0" tIns="0" bIns="0">
            <a:spAutoFit/>
          </a:bodyPr>
          <a:lstStyle/>
          <a:p>
            <a:pPr algn="l">
              <a:lnSpc>
                <a:spcPct val="118000"/>
              </a:lnSpc>
              <a:spcAft>
                <a:spcPts val="800"/>
              </a:spcAft>
            </a:pPr>
            <a:r>
              <a:rPr sz="1900" b="0" i="0">
                <a:solidFill>
                  <a:srgbClr val="0F172A"/>
                </a:solidFill>
                <a:latin typeface="Segoe UI"/>
              </a:rPr>
              <a:t>Cắm mạng lại: dữ liệu quãng offline hiện lên dashboard, đúng vị trí trên trục thời gian.</a:t>
            </a:r>
          </a:p>
        </p:txBody>
      </p:sp>
      <p:sp>
        <p:nvSpPr>
          <p:cNvPr id="21" name="TextBox 20"/>
          <p:cNvSpPr txBox="1"/>
          <p:nvPr/>
        </p:nvSpPr>
        <p:spPr>
          <a:xfrm>
            <a:off x="685800" y="5852160"/>
            <a:ext cx="7040880" cy="457200"/>
          </a:xfrm>
          <a:prstGeom prst="rect">
            <a:avLst/>
          </a:prstGeom>
          <a:noFill/>
        </p:spPr>
        <p:txBody>
          <a:bodyPr wrap="square" anchor="t" lIns="0" rIns="0" tIns="0" bIns="0">
            <a:spAutoFit/>
          </a:bodyPr>
          <a:lstStyle/>
          <a:p>
            <a:pPr algn="l">
              <a:lnSpc>
                <a:spcPct val="115000"/>
              </a:lnSpc>
              <a:spcAft>
                <a:spcPts val="800"/>
              </a:spcAft>
            </a:pPr>
            <a:r>
              <a:rPr sz="1600" b="0" i="1">
                <a:solidFill>
                  <a:srgbClr val="475569"/>
                </a:solidFill>
                <a:latin typeface="Segoe UI"/>
              </a:rPr>
              <a:t>Edge AI, báo động tại chỗ và đệm-gửi-bù — cả ba trong một lần chạy.</a:t>
            </a:r>
          </a:p>
        </p:txBody>
      </p:sp>
      <p:sp>
        <p:nvSpPr>
          <p:cNvPr id="22" name="TextBox 21"/>
          <p:cNvSpPr txBox="1"/>
          <p:nvPr/>
        </p:nvSpPr>
        <p:spPr>
          <a:xfrm>
            <a:off x="685800" y="6355080"/>
            <a:ext cx="5852160" cy="411480"/>
          </a:xfrm>
          <a:prstGeom prst="rect">
            <a:avLst/>
          </a:prstGeom>
          <a:noFill/>
        </p:spPr>
        <p:txBody>
          <a:bodyPr wrap="square" anchor="t" lIns="0" rIns="0" tIns="0" bIns="0">
            <a:spAutoFit/>
          </a:bodyPr>
          <a:lstStyle/>
          <a:p>
            <a:pPr algn="l">
              <a:lnSpc>
                <a:spcPct val="110000"/>
              </a:lnSpc>
              <a:spcAft>
                <a:spcPts val="800"/>
              </a:spcAft>
            </a:pPr>
            <a:r>
              <a:rPr sz="1000" b="0" i="0">
                <a:solidFill>
                  <a:srgbClr val="64748B"/>
                </a:solidFill>
                <a:latin typeface="Segoe UI"/>
              </a:rPr>
              <a:t>Ảnh: trạm sạc xe điện — Wikimedia Commons, CC BY-SA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wap_cabinet.jpg"/>
          <p:cNvPicPr>
            <a:picLocks noChangeAspect="1"/>
          </p:cNvPicPr>
          <p:nvPr/>
        </p:nvPicPr>
        <p:blipFill>
          <a:blip r:embed="rId2"/>
          <a:srcRect l="23707" r="23707"/>
          <a:stretch>
            <a:fillRect/>
          </a:stretch>
        </p:blipFill>
        <p:spPr>
          <a:xfrm>
            <a:off x="8778240" y="1737360"/>
            <a:ext cx="2788920" cy="3977639"/>
          </a:xfrm>
          <a:prstGeom prst="rect">
            <a:avLst/>
          </a:prstGeom>
        </p:spPr>
      </p:pic>
      <p:sp>
        <p:nvSpPr>
          <p:cNvPr id="4" name="TextBox 3"/>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Ai là người trả tiền</a:t>
            </a:r>
          </a:p>
        </p:txBody>
      </p:sp>
      <p:sp>
        <p:nvSpPr>
          <p:cNvPr id="5" name="Rectangle 4"/>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37360"/>
            <a:ext cx="7772400" cy="777240"/>
          </a:xfrm>
          <a:prstGeom prst="rect">
            <a:avLst/>
          </a:prstGeom>
          <a:noFill/>
        </p:spPr>
        <p:txBody>
          <a:bodyPr wrap="square" anchor="t" lIns="0" rIns="0" tIns="0" bIns="0">
            <a:spAutoFit/>
          </a:bodyPr>
          <a:lstStyle/>
          <a:p>
            <a:pPr algn="l">
              <a:lnSpc>
                <a:spcPct val="115000"/>
              </a:lnSpc>
              <a:spcAft>
                <a:spcPts val="800"/>
              </a:spcAft>
            </a:pPr>
            <a:r>
              <a:rPr sz="2200" b="1" i="0">
                <a:solidFill>
                  <a:srgbClr val="B45309"/>
                </a:solidFill>
                <a:latin typeface="Segoe UI"/>
              </a:rPr>
              <a:t>Đơn vị vận hành đội xe và mạng lưới trạm đổi pin — nơi pin thuộc về một pháp nhân.</a:t>
            </a:r>
          </a:p>
        </p:txBody>
      </p:sp>
      <p:sp>
        <p:nvSpPr>
          <p:cNvPr id="7" name="Rounded Rectangle 6"/>
          <p:cNvSpPr/>
          <p:nvPr/>
        </p:nvSpPr>
        <p:spPr>
          <a:xfrm>
            <a:off x="685800" y="2788920"/>
            <a:ext cx="7772400" cy="91440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788920"/>
            <a:ext cx="2377440" cy="914400"/>
          </a:xfrm>
          <a:prstGeom prst="rect">
            <a:avLst/>
          </a:prstGeom>
          <a:noFill/>
        </p:spPr>
        <p:txBody>
          <a:bodyPr wrap="square" anchor="ctr" lIns="0" rIns="0" tIns="0" bIns="0">
            <a:spAutoFit/>
          </a:bodyPr>
          <a:lstStyle/>
          <a:p>
            <a:pPr algn="l">
              <a:lnSpc>
                <a:spcPct val="110000"/>
              </a:lnSpc>
              <a:spcAft>
                <a:spcPts val="800"/>
              </a:spcAft>
            </a:pPr>
            <a:r>
              <a:rPr sz="1800" b="1" i="0">
                <a:solidFill>
                  <a:srgbClr val="0F172A"/>
                </a:solidFill>
                <a:latin typeface="Segoe UI"/>
              </a:rPr>
              <a:t>Chủ sở hữu = người trả tiền</a:t>
            </a:r>
          </a:p>
        </p:txBody>
      </p:sp>
      <p:sp>
        <p:nvSpPr>
          <p:cNvPr id="9" name="TextBox 8"/>
          <p:cNvSpPr txBox="1"/>
          <p:nvPr/>
        </p:nvSpPr>
        <p:spPr>
          <a:xfrm>
            <a:off x="3520440" y="2788920"/>
            <a:ext cx="4754880" cy="914400"/>
          </a:xfrm>
          <a:prstGeom prst="rect">
            <a:avLst/>
          </a:prstGeom>
          <a:noFill/>
        </p:spPr>
        <p:txBody>
          <a:bodyPr wrap="square" anchor="ctr" lIns="0" rIns="0" tIns="0" bIns="0">
            <a:spAutoFit/>
          </a:bodyPr>
          <a:lstStyle/>
          <a:p>
            <a:pPr algn="l">
              <a:lnSpc>
                <a:spcPct val="115000"/>
              </a:lnSpc>
              <a:spcAft>
                <a:spcPts val="800"/>
              </a:spcAft>
            </a:pPr>
            <a:r>
              <a:rPr sz="1600" b="0" i="0">
                <a:solidFill>
                  <a:srgbClr val="475569"/>
                </a:solidFill>
                <a:latin typeface="Segoe UI"/>
              </a:rPr>
              <a:t>Pin thuộc đơn vị vận hành, nên người mất tiền khi pin hỏng cũng chính là người mua được thiết bị.</a:t>
            </a:r>
          </a:p>
        </p:txBody>
      </p:sp>
      <p:sp>
        <p:nvSpPr>
          <p:cNvPr id="10" name="Rounded Rectangle 9"/>
          <p:cNvSpPr/>
          <p:nvPr/>
        </p:nvSpPr>
        <p:spPr>
          <a:xfrm>
            <a:off x="685800" y="3794760"/>
            <a:ext cx="7772400" cy="91440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794760"/>
            <a:ext cx="2377440" cy="914400"/>
          </a:xfrm>
          <a:prstGeom prst="rect">
            <a:avLst/>
          </a:prstGeom>
          <a:noFill/>
        </p:spPr>
        <p:txBody>
          <a:bodyPr wrap="square" anchor="ctr" lIns="0" rIns="0" tIns="0" bIns="0">
            <a:spAutoFit/>
          </a:bodyPr>
          <a:lstStyle/>
          <a:p>
            <a:pPr algn="l">
              <a:lnSpc>
                <a:spcPct val="110000"/>
              </a:lnSpc>
              <a:spcAft>
                <a:spcPts val="800"/>
              </a:spcAft>
            </a:pPr>
            <a:r>
              <a:rPr sz="1800" b="1" i="0">
                <a:solidFill>
                  <a:srgbClr val="0F172A"/>
                </a:solidFill>
                <a:latin typeface="Segoe UI"/>
              </a:rPr>
              <a:t>Có kế hoạch, không khẩn cấp</a:t>
            </a:r>
          </a:p>
        </p:txBody>
      </p:sp>
      <p:sp>
        <p:nvSpPr>
          <p:cNvPr id="12" name="TextBox 11"/>
          <p:cNvSpPr txBox="1"/>
          <p:nvPr/>
        </p:nvSpPr>
        <p:spPr>
          <a:xfrm>
            <a:off x="3520440" y="3794760"/>
            <a:ext cx="4754880" cy="914400"/>
          </a:xfrm>
          <a:prstGeom prst="rect">
            <a:avLst/>
          </a:prstGeom>
          <a:noFill/>
        </p:spPr>
        <p:txBody>
          <a:bodyPr wrap="square" anchor="ctr" lIns="0" rIns="0" tIns="0" bIns="0">
            <a:spAutoFit/>
          </a:bodyPr>
          <a:lstStyle/>
          <a:p>
            <a:pPr algn="l">
              <a:lnSpc>
                <a:spcPct val="115000"/>
              </a:lnSpc>
              <a:spcAft>
                <a:spcPts val="800"/>
              </a:spcAft>
            </a:pPr>
            <a:r>
              <a:rPr sz="1600" b="0" i="0">
                <a:solidFill>
                  <a:srgbClr val="475569"/>
                </a:solidFill>
                <a:latin typeface="Segoe UI"/>
              </a:rPr>
              <a:t>Thay pack thành bảo dưỡng có lịch, thay vì sự cố.</a:t>
            </a:r>
          </a:p>
        </p:txBody>
      </p:sp>
      <p:sp>
        <p:nvSpPr>
          <p:cNvPr id="13" name="Rounded Rectangle 12"/>
          <p:cNvSpPr/>
          <p:nvPr/>
        </p:nvSpPr>
        <p:spPr>
          <a:xfrm>
            <a:off x="685800" y="4800600"/>
            <a:ext cx="7772400" cy="91440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800600"/>
            <a:ext cx="2377440" cy="914400"/>
          </a:xfrm>
          <a:prstGeom prst="rect">
            <a:avLst/>
          </a:prstGeom>
          <a:noFill/>
        </p:spPr>
        <p:txBody>
          <a:bodyPr wrap="square" anchor="ctr" lIns="0" rIns="0" tIns="0" bIns="0">
            <a:spAutoFit/>
          </a:bodyPr>
          <a:lstStyle/>
          <a:p>
            <a:pPr algn="l">
              <a:lnSpc>
                <a:spcPct val="110000"/>
              </a:lnSpc>
              <a:spcAft>
                <a:spcPts val="800"/>
              </a:spcAft>
            </a:pPr>
            <a:r>
              <a:rPr sz="1800" b="1" i="0">
                <a:solidFill>
                  <a:srgbClr val="0F172A"/>
                </a:solidFill>
                <a:latin typeface="Segoe UI"/>
              </a:rPr>
              <a:t>Không cần SIM</a:t>
            </a:r>
          </a:p>
        </p:txBody>
      </p:sp>
      <p:sp>
        <p:nvSpPr>
          <p:cNvPr id="15" name="TextBox 14"/>
          <p:cNvSpPr txBox="1"/>
          <p:nvPr/>
        </p:nvSpPr>
        <p:spPr>
          <a:xfrm>
            <a:off x="3520440" y="4800600"/>
            <a:ext cx="4754880" cy="914400"/>
          </a:xfrm>
          <a:prstGeom prst="rect">
            <a:avLst/>
          </a:prstGeom>
          <a:noFill/>
        </p:spPr>
        <p:txBody>
          <a:bodyPr wrap="square" anchor="ctr" lIns="0" rIns="0" tIns="0" bIns="0">
            <a:spAutoFit/>
          </a:bodyPr>
          <a:lstStyle/>
          <a:p>
            <a:pPr algn="l">
              <a:lnSpc>
                <a:spcPct val="115000"/>
              </a:lnSpc>
              <a:spcAft>
                <a:spcPts val="800"/>
              </a:spcAft>
            </a:pPr>
            <a:r>
              <a:rPr sz="1600" b="0" i="0">
                <a:solidFill>
                  <a:srgbClr val="475569"/>
                </a:solidFill>
                <a:latin typeface="Segoe UI"/>
              </a:rPr>
              <a:t>Pin về trạm mỗi ngày — WiFi trạm làm đường truyền.</a:t>
            </a:r>
          </a:p>
        </p:txBody>
      </p:sp>
      <p:sp>
        <p:nvSpPr>
          <p:cNvPr id="16" name="TextBox 15"/>
          <p:cNvSpPr txBox="1"/>
          <p:nvPr/>
        </p:nvSpPr>
        <p:spPr>
          <a:xfrm>
            <a:off x="685800" y="5852160"/>
            <a:ext cx="7772400" cy="457200"/>
          </a:xfrm>
          <a:prstGeom prst="rect">
            <a:avLst/>
          </a:prstGeom>
          <a:noFill/>
        </p:spPr>
        <p:txBody>
          <a:bodyPr wrap="square" anchor="t" lIns="0" rIns="0" tIns="0" bIns="0">
            <a:spAutoFit/>
          </a:bodyPr>
          <a:lstStyle/>
          <a:p>
            <a:pPr algn="l">
              <a:lnSpc>
                <a:spcPct val="115000"/>
              </a:lnSpc>
              <a:spcAft>
                <a:spcPts val="800"/>
              </a:spcAft>
            </a:pPr>
            <a:r>
              <a:rPr sz="1600" b="0" i="1">
                <a:solidFill>
                  <a:srgbClr val="475569"/>
                </a:solidFill>
                <a:latin typeface="Segoe UI"/>
              </a:rPr>
              <a:t>Người dùng cá nhân là câu chuyện mở đầu. Đội xe mới là mô hình kinh doanh.</a:t>
            </a:r>
          </a:p>
        </p:txBody>
      </p:sp>
      <p:sp>
        <p:nvSpPr>
          <p:cNvPr id="17" name="TextBox 16"/>
          <p:cNvSpPr txBox="1"/>
          <p:nvPr/>
        </p:nvSpPr>
        <p:spPr>
          <a:xfrm>
            <a:off x="685800" y="6355080"/>
            <a:ext cx="5852160" cy="411480"/>
          </a:xfrm>
          <a:prstGeom prst="rect">
            <a:avLst/>
          </a:prstGeom>
          <a:noFill/>
        </p:spPr>
        <p:txBody>
          <a:bodyPr wrap="square" anchor="t" lIns="0" rIns="0" tIns="0" bIns="0">
            <a:spAutoFit/>
          </a:bodyPr>
          <a:lstStyle/>
          <a:p>
            <a:pPr algn="l">
              <a:lnSpc>
                <a:spcPct val="110000"/>
              </a:lnSpc>
              <a:spcAft>
                <a:spcPts val="800"/>
              </a:spcAft>
            </a:pPr>
            <a:r>
              <a:rPr sz="1000" b="0" i="0">
                <a:solidFill>
                  <a:srgbClr val="64748B"/>
                </a:solidFill>
                <a:latin typeface="Segoe UI"/>
              </a:rPr>
              <a:t>Ảnh: tủ đổi pin xe máy điện — Wikimedia Commons, CC BY-SA 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Những gì đội CHƯA chứng minh được</a:t>
            </a:r>
          </a:p>
        </p:txBody>
      </p:sp>
      <p:sp>
        <p:nvSpPr>
          <p:cNvPr id="4" name="Rectangle 3"/>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10881360" cy="457200"/>
          </a:xfrm>
          <a:prstGeom prst="rect">
            <a:avLst/>
          </a:prstGeom>
          <a:noFill/>
        </p:spPr>
        <p:txBody>
          <a:bodyPr wrap="square" anchor="t" lIns="0" rIns="0" tIns="0" bIns="0">
            <a:spAutoFit/>
          </a:bodyPr>
          <a:lstStyle/>
          <a:p>
            <a:pPr algn="l">
              <a:lnSpc>
                <a:spcPct val="115000"/>
              </a:lnSpc>
              <a:spcAft>
                <a:spcPts val="800"/>
              </a:spcAft>
            </a:pPr>
            <a:r>
              <a:rPr sz="2000" b="0" i="0">
                <a:solidFill>
                  <a:srgbClr val="475569"/>
                </a:solidFill>
                <a:latin typeface="Segoe UI"/>
              </a:rPr>
              <a:t>Thà nói trước còn hơn để bị hỏi.</a:t>
            </a:r>
          </a:p>
        </p:txBody>
      </p:sp>
      <p:sp>
        <p:nvSpPr>
          <p:cNvPr id="6" name="Rounded Rectangle 5"/>
          <p:cNvSpPr/>
          <p:nvPr/>
        </p:nvSpPr>
        <p:spPr>
          <a:xfrm>
            <a:off x="685800" y="2057400"/>
            <a:ext cx="10835640" cy="128016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194560"/>
            <a:ext cx="4206240" cy="1005840"/>
          </a:xfrm>
          <a:prstGeom prst="rect">
            <a:avLst/>
          </a:prstGeom>
          <a:noFill/>
        </p:spPr>
        <p:txBody>
          <a:bodyPr wrap="square" anchor="ctr" lIns="0" rIns="0" tIns="0" bIns="0">
            <a:spAutoFit/>
          </a:bodyPr>
          <a:lstStyle/>
          <a:p>
            <a:pPr algn="l">
              <a:lnSpc>
                <a:spcPct val="115000"/>
              </a:lnSpc>
              <a:spcAft>
                <a:spcPts val="800"/>
              </a:spcAft>
            </a:pPr>
            <a:r>
              <a:rPr sz="2000" b="1" i="0">
                <a:solidFill>
                  <a:srgbClr val="B45309"/>
                </a:solidFill>
                <a:latin typeface="Segoe UI"/>
              </a:rPr>
              <a:t>Cả pack cùng nóng đều</a:t>
            </a:r>
          </a:p>
        </p:txBody>
      </p:sp>
      <p:sp>
        <p:nvSpPr>
          <p:cNvPr id="8" name="TextBox 7"/>
          <p:cNvSpPr txBox="1"/>
          <p:nvPr/>
        </p:nvSpPr>
        <p:spPr>
          <a:xfrm>
            <a:off x="5577840" y="2167128"/>
            <a:ext cx="5669280" cy="1051560"/>
          </a:xfrm>
          <a:prstGeom prst="rect">
            <a:avLst/>
          </a:prstGeom>
          <a:noFill/>
        </p:spPr>
        <p:txBody>
          <a:bodyPr wrap="square" anchor="ctr" lIns="0" rIns="0" tIns="0" bIns="0">
            <a:spAutoFit/>
          </a:bodyPr>
          <a:lstStyle/>
          <a:p>
            <a:pPr algn="l">
              <a:lnSpc>
                <a:spcPct val="120000"/>
              </a:lnSpc>
              <a:spcAft>
                <a:spcPts val="800"/>
              </a:spcAft>
            </a:pPr>
            <a:r>
              <a:rPr sz="1600" b="0" i="0">
                <a:solidFill>
                  <a:srgbClr val="475569"/>
                </a:solidFill>
                <a:latin typeface="Segoe UI"/>
              </a:rPr>
              <a:t>Không cell nào lệch nên Lớp 1 im. Ngưỡng cứng 60 °C lo việc này — chưa kiểm được trên phần cứng.</a:t>
            </a:r>
          </a:p>
        </p:txBody>
      </p:sp>
      <p:sp>
        <p:nvSpPr>
          <p:cNvPr id="9" name="Rounded Rectangle 8"/>
          <p:cNvSpPr/>
          <p:nvPr/>
        </p:nvSpPr>
        <p:spPr>
          <a:xfrm>
            <a:off x="685800" y="3474720"/>
            <a:ext cx="10835640" cy="1280160"/>
          </a:xfrm>
          <a:prstGeom prst="roundRect">
            <a:avLst>
              <a:gd name="adj" fmla="val 6000"/>
            </a:avLst>
          </a:prstGeom>
          <a:solidFill>
            <a:srgbClr val="E2E8F0"/>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611880"/>
            <a:ext cx="4206240" cy="1005840"/>
          </a:xfrm>
          <a:prstGeom prst="rect">
            <a:avLst/>
          </a:prstGeom>
          <a:noFill/>
        </p:spPr>
        <p:txBody>
          <a:bodyPr wrap="square" anchor="ctr" lIns="0" rIns="0" tIns="0" bIns="0">
            <a:spAutoFit/>
          </a:bodyPr>
          <a:lstStyle/>
          <a:p>
            <a:pPr algn="l">
              <a:lnSpc>
                <a:spcPct val="115000"/>
              </a:lnSpc>
              <a:spcAft>
                <a:spcPts val="800"/>
              </a:spcAft>
            </a:pPr>
            <a:r>
              <a:rPr sz="2000" b="1" i="0">
                <a:solidFill>
                  <a:srgbClr val="B45309"/>
                </a:solidFill>
                <a:latin typeface="Segoe UI"/>
              </a:rPr>
              <a:t>Pack xe điện đang vận hành thật</a:t>
            </a:r>
          </a:p>
        </p:txBody>
      </p:sp>
      <p:sp>
        <p:nvSpPr>
          <p:cNvPr id="11" name="TextBox 10"/>
          <p:cNvSpPr txBox="1"/>
          <p:nvPr/>
        </p:nvSpPr>
        <p:spPr>
          <a:xfrm>
            <a:off x="5577840" y="3584448"/>
            <a:ext cx="5669280" cy="1051560"/>
          </a:xfrm>
          <a:prstGeom prst="rect">
            <a:avLst/>
          </a:prstGeom>
          <a:noFill/>
        </p:spPr>
        <p:txBody>
          <a:bodyPr wrap="square" anchor="ctr" lIns="0" rIns="0" tIns="0" bIns="0">
            <a:spAutoFit/>
          </a:bodyPr>
          <a:lstStyle/>
          <a:p>
            <a:pPr algn="l">
              <a:lnSpc>
                <a:spcPct val="120000"/>
              </a:lnSpc>
              <a:spcAft>
                <a:spcPts val="800"/>
              </a:spcAft>
            </a:pPr>
            <a:r>
              <a:rPr sz="1600" b="0" i="0">
                <a:solidFill>
                  <a:srgbClr val="475569"/>
                </a:solidFill>
                <a:latin typeface="Segoe UI"/>
              </a:rPr>
              <a:t>Hiện mới có pack thí nghiệm cùng loại cell và dữ liệu công khai. Đo trên xe chạy hằng ngày là bước tiếp theo.</a:t>
            </a:r>
          </a:p>
        </p:txBody>
      </p:sp>
      <p:sp>
        <p:nvSpPr>
          <p:cNvPr id="12" name="Rounded Rectangle 11"/>
          <p:cNvSpPr/>
          <p:nvPr/>
        </p:nvSpPr>
        <p:spPr>
          <a:xfrm>
            <a:off x="685800" y="4892040"/>
            <a:ext cx="10835640" cy="128016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029200"/>
            <a:ext cx="4206240" cy="1005840"/>
          </a:xfrm>
          <a:prstGeom prst="rect">
            <a:avLst/>
          </a:prstGeom>
          <a:noFill/>
        </p:spPr>
        <p:txBody>
          <a:bodyPr wrap="square" anchor="ctr" lIns="0" rIns="0" tIns="0" bIns="0">
            <a:spAutoFit/>
          </a:bodyPr>
          <a:lstStyle/>
          <a:p>
            <a:pPr algn="l">
              <a:lnSpc>
                <a:spcPct val="115000"/>
              </a:lnSpc>
              <a:spcAft>
                <a:spcPts val="800"/>
              </a:spcAft>
            </a:pPr>
            <a:r>
              <a:rPr sz="2000" b="1" i="0">
                <a:solidFill>
                  <a:srgbClr val="B45309"/>
                </a:solidFill>
                <a:latin typeface="Segoe UI"/>
              </a:rPr>
              <a:t>Dự báo lão hoá trên pack đã chai</a:t>
            </a:r>
          </a:p>
        </p:txBody>
      </p:sp>
      <p:sp>
        <p:nvSpPr>
          <p:cNvPr id="14" name="TextBox 13"/>
          <p:cNvSpPr txBox="1"/>
          <p:nvPr/>
        </p:nvSpPr>
        <p:spPr>
          <a:xfrm>
            <a:off x="5577840" y="5001768"/>
            <a:ext cx="5669280" cy="1051560"/>
          </a:xfrm>
          <a:prstGeom prst="rect">
            <a:avLst/>
          </a:prstGeom>
          <a:noFill/>
        </p:spPr>
        <p:txBody>
          <a:bodyPr wrap="square" anchor="ctr" lIns="0" rIns="0" tIns="0" bIns="0">
            <a:spAutoFit/>
          </a:bodyPr>
          <a:lstStyle/>
          <a:p>
            <a:pPr algn="l">
              <a:lnSpc>
                <a:spcPct val="120000"/>
              </a:lnSpc>
              <a:spcAft>
                <a:spcPts val="800"/>
              </a:spcAft>
            </a:pPr>
            <a:r>
              <a:rPr sz="1600" b="0" i="0">
                <a:solidFill>
                  <a:srgbClr val="475569"/>
                </a:solidFill>
                <a:latin typeface="Segoe UI"/>
              </a:rPr>
              <a:t>Cell còn mới — chỉ có một điểm ở đầu thang đo. Đội tính mượn pack đã chai.</a:t>
            </a:r>
          </a:p>
        </p:txBody>
      </p:sp>
      <p:sp>
        <p:nvSpPr>
          <p:cNvPr id="15" name="TextBox 14"/>
          <p:cNvSpPr txBox="1"/>
          <p:nvPr/>
        </p:nvSpPr>
        <p:spPr>
          <a:xfrm>
            <a:off x="685800" y="6400800"/>
            <a:ext cx="10835640" cy="457200"/>
          </a:xfrm>
          <a:prstGeom prst="rect">
            <a:avLst/>
          </a:prstGeom>
          <a:noFill/>
        </p:spPr>
        <p:txBody>
          <a:bodyPr wrap="square" anchor="t" lIns="0" rIns="0" tIns="0" bIns="0">
            <a:spAutoFit/>
          </a:bodyPr>
          <a:lstStyle/>
          <a:p>
            <a:pPr algn="l">
              <a:lnSpc>
                <a:spcPct val="115000"/>
              </a:lnSpc>
              <a:spcAft>
                <a:spcPts val="800"/>
              </a:spcAft>
            </a:pPr>
            <a:r>
              <a:rPr sz="1900" b="1" i="0">
                <a:solidFill>
                  <a:srgbClr val="0F172A"/>
                </a:solidFill>
                <a:latin typeface="Segoe UI"/>
              </a:rPr>
              <a:t>Không có điều gì trong bộ slide này được nói quá hơn thứ đội thật sự đo được.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411480"/>
            <a:ext cx="10881360" cy="914400"/>
          </a:xfrm>
          <a:prstGeom prst="rect">
            <a:avLst/>
          </a:prstGeom>
          <a:noFill/>
        </p:spPr>
        <p:txBody>
          <a:bodyPr wrap="square" anchor="t" lIns="0" rIns="0" tIns="0" bIns="0">
            <a:spAutoFit/>
          </a:bodyPr>
          <a:lstStyle/>
          <a:p>
            <a:pPr algn="l">
              <a:lnSpc>
                <a:spcPct val="115000"/>
              </a:lnSpc>
              <a:spcAft>
                <a:spcPts val="800"/>
              </a:spcAft>
            </a:pPr>
            <a:r>
              <a:rPr sz="3400" b="1" i="0">
                <a:solidFill>
                  <a:srgbClr val="0F172A"/>
                </a:solidFill>
                <a:latin typeface="Segoe UI"/>
              </a:rPr>
              <a:t>Từ Bán kết tới Chung kết</a:t>
            </a:r>
          </a:p>
        </p:txBody>
      </p:sp>
      <p:sp>
        <p:nvSpPr>
          <p:cNvPr id="4" name="Rectangle 3"/>
          <p:cNvSpPr/>
          <p:nvPr/>
        </p:nvSpPr>
        <p:spPr>
          <a:xfrm>
            <a:off x="685800" y="1115568"/>
            <a:ext cx="100584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10881360" cy="457200"/>
          </a:xfrm>
          <a:prstGeom prst="rect">
            <a:avLst/>
          </a:prstGeom>
          <a:noFill/>
        </p:spPr>
        <p:txBody>
          <a:bodyPr wrap="square" anchor="t" lIns="0" rIns="0" tIns="0" bIns="0">
            <a:spAutoFit/>
          </a:bodyPr>
          <a:lstStyle/>
          <a:p>
            <a:pPr algn="l">
              <a:lnSpc>
                <a:spcPct val="115000"/>
              </a:lnSpc>
              <a:spcAft>
                <a:spcPts val="800"/>
              </a:spcAft>
            </a:pPr>
            <a:r>
              <a:rPr sz="2000" b="0" i="0">
                <a:solidFill>
                  <a:srgbClr val="475569"/>
                </a:solidFill>
                <a:latin typeface="Segoe UI"/>
              </a:rPr>
              <a:t>27/11/2026</a:t>
            </a:r>
          </a:p>
        </p:txBody>
      </p:sp>
      <p:sp>
        <p:nvSpPr>
          <p:cNvPr id="6" name="Rectangle 5"/>
          <p:cNvSpPr/>
          <p:nvPr/>
        </p:nvSpPr>
        <p:spPr>
          <a:xfrm>
            <a:off x="1097280" y="3200400"/>
            <a:ext cx="9966960" cy="508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286000" y="3044952"/>
            <a:ext cx="384048" cy="38404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77440"/>
            <a:ext cx="3291840" cy="457200"/>
          </a:xfrm>
          <a:prstGeom prst="rect">
            <a:avLst/>
          </a:prstGeom>
          <a:noFill/>
        </p:spPr>
        <p:txBody>
          <a:bodyPr wrap="square" anchor="t" lIns="0" rIns="0" tIns="0" bIns="0">
            <a:spAutoFit/>
          </a:bodyPr>
          <a:lstStyle/>
          <a:p>
            <a:pPr algn="ctr">
              <a:lnSpc>
                <a:spcPct val="115000"/>
              </a:lnSpc>
              <a:spcAft>
                <a:spcPts val="800"/>
              </a:spcAft>
            </a:pPr>
            <a:r>
              <a:rPr sz="2200" b="1" i="0">
                <a:solidFill>
                  <a:srgbClr val="B45309"/>
                </a:solidFill>
                <a:latin typeface="Segoe UI"/>
              </a:rPr>
              <a:t>HIỆN TẠI</a:t>
            </a:r>
          </a:p>
        </p:txBody>
      </p:sp>
      <p:sp>
        <p:nvSpPr>
          <p:cNvPr id="9" name="Rounded Rectangle 8"/>
          <p:cNvSpPr/>
          <p:nvPr/>
        </p:nvSpPr>
        <p:spPr>
          <a:xfrm>
            <a:off x="822960" y="3749039"/>
            <a:ext cx="3291840" cy="173736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749039"/>
            <a:ext cx="2743200" cy="1737360"/>
          </a:xfrm>
          <a:prstGeom prst="rect">
            <a:avLst/>
          </a:prstGeom>
          <a:noFill/>
        </p:spPr>
        <p:txBody>
          <a:bodyPr wrap="square" anchor="ctr" lIns="0" rIns="0" tIns="0" bIns="0">
            <a:spAutoFit/>
          </a:bodyPr>
          <a:lstStyle/>
          <a:p>
            <a:pPr algn="ctr">
              <a:lnSpc>
                <a:spcPct val="120000"/>
              </a:lnSpc>
              <a:spcAft>
                <a:spcPts val="800"/>
              </a:spcAft>
            </a:pPr>
            <a:r>
              <a:rPr sz="1800" b="0" i="0">
                <a:solidFill>
                  <a:srgbClr val="0F172A"/>
                </a:solidFill>
                <a:latin typeface="Segoe UI"/>
              </a:rPr>
              <a:t>Giàn 6 cell, Lớp 1 chạy trên thiết bị, báo động 4 mức, cloud đã chạy</a:t>
            </a:r>
          </a:p>
        </p:txBody>
      </p:sp>
      <p:sp>
        <p:nvSpPr>
          <p:cNvPr id="11" name="Oval 10"/>
          <p:cNvSpPr/>
          <p:nvPr/>
        </p:nvSpPr>
        <p:spPr>
          <a:xfrm>
            <a:off x="5943600" y="3044952"/>
            <a:ext cx="384048" cy="384048"/>
          </a:xfrm>
          <a:prstGeom prst="ellipse">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377440"/>
            <a:ext cx="3291840" cy="457200"/>
          </a:xfrm>
          <a:prstGeom prst="rect">
            <a:avLst/>
          </a:prstGeom>
          <a:noFill/>
        </p:spPr>
        <p:txBody>
          <a:bodyPr wrap="square" anchor="t" lIns="0" rIns="0" tIns="0" bIns="0">
            <a:spAutoFit/>
          </a:bodyPr>
          <a:lstStyle/>
          <a:p>
            <a:pPr algn="ctr">
              <a:lnSpc>
                <a:spcPct val="115000"/>
              </a:lnSpc>
              <a:spcAft>
                <a:spcPts val="800"/>
              </a:spcAft>
            </a:pPr>
            <a:r>
              <a:rPr sz="2200" b="1" i="0">
                <a:solidFill>
                  <a:srgbClr val="0369A1"/>
                </a:solidFill>
                <a:latin typeface="Segoe UI"/>
              </a:rPr>
              <a:t>THÁNG 10</a:t>
            </a:r>
          </a:p>
        </p:txBody>
      </p:sp>
      <p:sp>
        <p:nvSpPr>
          <p:cNvPr id="13" name="Rounded Rectangle 12"/>
          <p:cNvSpPr/>
          <p:nvPr/>
        </p:nvSpPr>
        <p:spPr>
          <a:xfrm>
            <a:off x="4480560" y="3749039"/>
            <a:ext cx="3291840" cy="173736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3749039"/>
            <a:ext cx="2743200" cy="1737360"/>
          </a:xfrm>
          <a:prstGeom prst="rect">
            <a:avLst/>
          </a:prstGeom>
          <a:noFill/>
        </p:spPr>
        <p:txBody>
          <a:bodyPr wrap="square" anchor="ctr" lIns="0" rIns="0" tIns="0" bIns="0">
            <a:spAutoFit/>
          </a:bodyPr>
          <a:lstStyle/>
          <a:p>
            <a:pPr algn="ctr">
              <a:lnSpc>
                <a:spcPct val="120000"/>
              </a:lnSpc>
              <a:spcAft>
                <a:spcPts val="800"/>
              </a:spcAft>
            </a:pPr>
            <a:r>
              <a:rPr sz="1800" b="0" i="0">
                <a:solidFill>
                  <a:srgbClr val="0F172A"/>
                </a:solidFill>
                <a:latin typeface="Segoe UI"/>
              </a:rPr>
              <a:t>Đo dòng thật → chu kỳ sạc thật → kết quả Lớp 2 thật</a:t>
            </a:r>
          </a:p>
        </p:txBody>
      </p:sp>
      <p:sp>
        <p:nvSpPr>
          <p:cNvPr id="15" name="Oval 14"/>
          <p:cNvSpPr/>
          <p:nvPr/>
        </p:nvSpPr>
        <p:spPr>
          <a:xfrm>
            <a:off x="9601200" y="3044952"/>
            <a:ext cx="384048" cy="384048"/>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2377440"/>
            <a:ext cx="3291840" cy="457200"/>
          </a:xfrm>
          <a:prstGeom prst="rect">
            <a:avLst/>
          </a:prstGeom>
          <a:noFill/>
        </p:spPr>
        <p:txBody>
          <a:bodyPr wrap="square" anchor="t" lIns="0" rIns="0" tIns="0" bIns="0">
            <a:spAutoFit/>
          </a:bodyPr>
          <a:lstStyle/>
          <a:p>
            <a:pPr algn="ctr">
              <a:lnSpc>
                <a:spcPct val="115000"/>
              </a:lnSpc>
              <a:spcAft>
                <a:spcPts val="800"/>
              </a:spcAft>
            </a:pPr>
            <a:r>
              <a:rPr sz="2200" b="1" i="0">
                <a:solidFill>
                  <a:srgbClr val="15803D"/>
                </a:solidFill>
                <a:latin typeface="Segoe UI"/>
              </a:rPr>
              <a:t>THÁNG 11</a:t>
            </a:r>
          </a:p>
        </p:txBody>
      </p:sp>
      <p:sp>
        <p:nvSpPr>
          <p:cNvPr id="17" name="Rounded Rectangle 16"/>
          <p:cNvSpPr/>
          <p:nvPr/>
        </p:nvSpPr>
        <p:spPr>
          <a:xfrm>
            <a:off x="8138160" y="3749039"/>
            <a:ext cx="3291840" cy="1737360"/>
          </a:xfrm>
          <a:prstGeom prst="roundRect">
            <a:avLst>
              <a:gd name="adj" fmla="val 600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3749039"/>
            <a:ext cx="2743200" cy="1737360"/>
          </a:xfrm>
          <a:prstGeom prst="rect">
            <a:avLst/>
          </a:prstGeom>
          <a:noFill/>
        </p:spPr>
        <p:txBody>
          <a:bodyPr wrap="square" anchor="ctr" lIns="0" rIns="0" tIns="0" bIns="0">
            <a:spAutoFit/>
          </a:bodyPr>
          <a:lstStyle/>
          <a:p>
            <a:pPr algn="ctr">
              <a:lnSpc>
                <a:spcPct val="120000"/>
              </a:lnSpc>
              <a:spcAft>
                <a:spcPts val="800"/>
              </a:spcAft>
            </a:pPr>
            <a:r>
              <a:rPr sz="1800" b="0" i="0">
                <a:solidFill>
                  <a:srgbClr val="0F172A"/>
                </a:solidFill>
                <a:latin typeface="Segoe UI"/>
              </a:rPr>
              <a:t>Kiểm trên pack đã chai · vỏ hộp · mô hình chi phí · phỏng vấn đội xe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ell_explosion.jpg"/>
          <p:cNvPicPr>
            <a:picLocks noChangeAspect="1"/>
          </p:cNvPicPr>
          <p:nvPr/>
        </p:nvPicPr>
        <p:blipFill>
          <a:blip r:embed="rId2"/>
          <a:srcRect l="27376" r="27376"/>
          <a:stretch>
            <a:fillRect/>
          </a:stretch>
        </p:blipFill>
        <p:spPr>
          <a:xfrm>
            <a:off x="6675120" y="0"/>
            <a:ext cx="5516575" cy="6858000"/>
          </a:xfrm>
          <a:prstGeom prst="rect">
            <a:avLst/>
          </a:prstGeom>
        </p:spPr>
      </p:pic>
      <p:sp>
        <p:nvSpPr>
          <p:cNvPr id="4" name="TextBox 3"/>
          <p:cNvSpPr txBox="1"/>
          <p:nvPr/>
        </p:nvSpPr>
        <p:spPr>
          <a:xfrm>
            <a:off x="731520" y="2011680"/>
            <a:ext cx="5486400" cy="2194560"/>
          </a:xfrm>
          <a:prstGeom prst="rect">
            <a:avLst/>
          </a:prstGeom>
          <a:noFill/>
        </p:spPr>
        <p:txBody>
          <a:bodyPr wrap="square" anchor="t" lIns="0" rIns="0" tIns="0" bIns="0">
            <a:spAutoFit/>
          </a:bodyPr>
          <a:lstStyle/>
          <a:p>
            <a:pPr algn="l">
              <a:lnSpc>
                <a:spcPct val="115000"/>
              </a:lnSpc>
              <a:spcAft>
                <a:spcPts val="600"/>
              </a:spcAft>
            </a:pPr>
            <a:r>
              <a:rPr sz="3400" b="1" i="0">
                <a:solidFill>
                  <a:srgbClr val="0F172A"/>
                </a:solidFill>
                <a:latin typeface="Segoe UI"/>
              </a:rPr>
              <a:t>Một cell châm ngòi.</a:t>
            </a:r>
          </a:p>
          <a:p>
            <a:pPr algn="l">
              <a:lnSpc>
                <a:spcPct val="115000"/>
              </a:lnSpc>
              <a:spcAft>
                <a:spcPts val="600"/>
              </a:spcAft>
            </a:pPr>
            <a:r>
              <a:rPr sz="3400" b="1" i="0">
                <a:solidFill>
                  <a:srgbClr val="B45309"/>
                </a:solidFill>
                <a:latin typeface="Segoe UI"/>
              </a:rPr>
              <a:t>Đội theo dõi từng cell.</a:t>
            </a:r>
          </a:p>
        </p:txBody>
      </p:sp>
      <p:sp>
        <p:nvSpPr>
          <p:cNvPr id="5" name="Rectangle 4"/>
          <p:cNvSpPr/>
          <p:nvPr/>
        </p:nvSpPr>
        <p:spPr>
          <a:xfrm>
            <a:off x="731520" y="3977639"/>
            <a:ext cx="1645920" cy="635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297680"/>
            <a:ext cx="5486400" cy="1463040"/>
          </a:xfrm>
          <a:prstGeom prst="rect">
            <a:avLst/>
          </a:prstGeom>
          <a:noFill/>
        </p:spPr>
        <p:txBody>
          <a:bodyPr wrap="square" anchor="t" lIns="0" rIns="0" tIns="0" bIns="0">
            <a:spAutoFit/>
          </a:bodyPr>
          <a:lstStyle/>
          <a:p>
            <a:pPr algn="l">
              <a:lnSpc>
                <a:spcPct val="115000"/>
              </a:lnSpc>
              <a:spcAft>
                <a:spcPts val="1000"/>
              </a:spcAft>
            </a:pPr>
            <a:r>
              <a:rPr sz="2100" b="1" i="0">
                <a:solidFill>
                  <a:srgbClr val="0F172A"/>
                </a:solidFill>
                <a:latin typeface="Segoe UI"/>
              </a:rPr>
              <a:t>Đội Hủ Tiếu  ·  ICTU – Đại học Thái Nguyên</a:t>
            </a:r>
          </a:p>
          <a:p>
            <a:pPr algn="l">
              <a:lnSpc>
                <a:spcPct val="115000"/>
              </a:lnSpc>
              <a:spcAft>
                <a:spcPts val="1000"/>
              </a:spcAft>
            </a:pPr>
            <a:r>
              <a:rPr sz="1900" b="0" i="0">
                <a:solidFill>
                  <a:srgbClr val="475569"/>
                </a:solidFill>
                <a:latin typeface="Segoe UI"/>
              </a:rPr>
              <a:t>Cảm ơn thầy cô. Rất mong nhận câu hỏi — nhất là câu khó.</a:t>
            </a:r>
          </a:p>
        </p:txBody>
      </p:sp>
      <p:sp>
        <p:nvSpPr>
          <p:cNvPr id="7" name="TextBox 6"/>
          <p:cNvSpPr txBox="1"/>
          <p:nvPr/>
        </p:nvSpPr>
        <p:spPr>
          <a:xfrm>
            <a:off x="685800" y="6355080"/>
            <a:ext cx="5852160" cy="411480"/>
          </a:xfrm>
          <a:prstGeom prst="rect">
            <a:avLst/>
          </a:prstGeom>
          <a:noFill/>
        </p:spPr>
        <p:txBody>
          <a:bodyPr wrap="square" anchor="t" lIns="0" rIns="0" tIns="0" bIns="0">
            <a:spAutoFit/>
          </a:bodyPr>
          <a:lstStyle/>
          <a:p>
            <a:pPr algn="l">
              <a:lnSpc>
                <a:spcPct val="110000"/>
              </a:lnSpc>
              <a:spcAft>
                <a:spcPts val="800"/>
              </a:spcAft>
            </a:pPr>
            <a:r>
              <a:rPr sz="1000" b="0" i="0">
                <a:solidFill>
                  <a:srgbClr val="64748B"/>
                </a:solidFill>
                <a:latin typeface="Segoe UI"/>
              </a:rPr>
              <a:t>Ảnh: cell 18650 sau thermal runaway — Wikimedia Commons, CC BY 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